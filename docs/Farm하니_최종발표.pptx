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E4D2B"/>
                </a:solidFill>
                <a:latin typeface="맑은 고딕"/>
              </a:rPr>
              <a:t>LLM-as-a-Judge 4대 지표 평가 (5점 만점, 12개 골든셋)</a:t>
            </a:r>
          </a:p>
        </c:rich>
      </c:tx>
      <c:layout/>
      <c:overlay val="0"/>
    </c:title>
    <c:autoTitleDeleted val="0"/>
    <c:plotArea>
      <c:barChart>
        <c:barDir val="col"/>
        <c:grouping val="clustered"/>
        <c:ser>
          <c:idx val="0"/>
          <c:order val="0"/>
          <c:tx>
            <c:strRef>
              <c:f>Sheet1!$B$1</c:f>
              <c:strCache>
                <c:ptCount val="1"/>
                <c:pt idx="0">
                  <c:v>개선 전 (2차)</c:v>
                </c:pt>
              </c:strCache>
            </c:strRef>
          </c:tx>
          <c:spPr>
            <a:solidFill>
              <a:srgbClr val="C9C9C9"/>
            </a:solidFill>
          </c:spPr>
          <c:cat>
            <c:strRef>
              <c:f>Sheet1!$A$2:$A$5</c:f>
              <c:strCache>
                <c:ptCount val="4"/>
                <c:pt idx="0">
                  <c:v>사실성</c:v>
                </c:pt>
                <c:pt idx="1">
                  <c:v>답변 관련성</c:v>
                </c:pt>
                <c:pt idx="2">
                  <c:v>검색 정확도</c:v>
                </c:pt>
                <c:pt idx="3">
                  <c:v>사진 반영</c:v>
                </c:pt>
              </c:strCache>
            </c:strRef>
          </c:cat>
          <c:val>
            <c:numRef>
              <c:f>Sheet1!$B$2:$B$5</c:f>
              <c:numCache>
                <c:formatCode>General</c:formatCode>
                <c:ptCount val="4"/>
                <c:pt idx="0">
                  <c:v>4.67</c:v>
                </c:pt>
                <c:pt idx="1">
                  <c:v>4.83</c:v>
                </c:pt>
                <c:pt idx="2">
                  <c:v>3.58</c:v>
                </c:pt>
                <c:pt idx="3">
                  <c:v>4.0</c:v>
                </c:pt>
              </c:numCache>
            </c:numRef>
          </c:val>
        </c:ser>
        <c:ser>
          <c:idx val="1"/>
          <c:order val="1"/>
          <c:tx>
            <c:strRef>
              <c:f>Sheet1!$C$1</c:f>
              <c:strCache>
                <c:ptCount val="1"/>
                <c:pt idx="0">
                  <c:v>개선 후</c:v>
                </c:pt>
              </c:strCache>
            </c:strRef>
          </c:tx>
          <c:spPr>
            <a:solidFill>
              <a:srgbClr val="3B7A57"/>
            </a:solidFill>
          </c:spPr>
          <c:cat>
            <c:strRef>
              <c:f>Sheet1!$A$2:$A$5</c:f>
              <c:strCache>
                <c:ptCount val="4"/>
                <c:pt idx="0">
                  <c:v>사실성</c:v>
                </c:pt>
                <c:pt idx="1">
                  <c:v>답변 관련성</c:v>
                </c:pt>
                <c:pt idx="2">
                  <c:v>검색 정확도</c:v>
                </c:pt>
                <c:pt idx="3">
                  <c:v>사진 반영</c:v>
                </c:pt>
              </c:strCache>
            </c:strRef>
          </c:cat>
          <c:val>
            <c:numRef>
              <c:f>Sheet1!$C$2:$C$5</c:f>
              <c:numCache>
                <c:formatCode>General</c:formatCode>
                <c:ptCount val="4"/>
                <c:pt idx="0">
                  <c:v>4.92</c:v>
                </c:pt>
                <c:pt idx="1">
                  <c:v>5.0</c:v>
                </c:pt>
                <c:pt idx="2">
                  <c:v>4.83</c:v>
                </c:pt>
                <c:pt idx="3">
                  <c:v>5.0</c:v>
                </c:pt>
              </c:numCache>
            </c:numRef>
          </c:val>
        </c:ser>
        <c:dLbls>
          <c:txPr>
            <a:bodyPr/>
            <a:lstStyle/>
            <a:p>
              <a:pPr>
                <a:defRPr sz="1000">
                  <a:latin typeface="맑은 고딕"/>
                </a:defRPr>
              </a:pPr>
            </a:p>
          </c:txPr>
          <c:showLegendKey val="0"/>
          <c:showVal val="1"/>
          <c:showCatName val="0"/>
          <c:showSerName val="0"/>
          <c:showPercent val="0"/>
          <c:showBubbleSize val="0"/>
          <c:showLeaderLines val="1"/>
        </c:dLbls>
        <c:gapWidth val="120"/>
        <c:axId val="-2068027336"/>
        <c:axId val="-2113994440"/>
      </c:barChart>
      <c:catAx>
        <c:axId val="-2068027336"/>
        <c:scaling>
          <c:orientation val="minMax"/>
        </c:scaling>
        <c:delete val="0"/>
        <c:axPos val="b"/>
        <c:majorTickMark val="out"/>
        <c:minorTickMark val="none"/>
        <c:tickLblPos val="nextTo"/>
        <c:txPr>
          <a:bodyPr/>
          <a:lstStyle/>
          <a:p>
            <a:pPr>
              <a:defRPr sz="1100">
                <a:latin typeface="맑은 고딕"/>
              </a:defRPr>
            </a:pPr>
          </a:p>
        </c:txPr>
        <c:crossAx val="-2113994440"/>
        <c:crosses val="autoZero"/>
        <c:auto val="1"/>
        <c:lblAlgn val="ctr"/>
        <c:lblOffset val="100"/>
        <c:noMultiLvlLbl val="0"/>
      </c:catAx>
      <c:valAx>
        <c:axId val="-2113994440"/>
        <c:scaling>
          <c:max val="5.0"/>
          <c:min val="0.0"/>
        </c:scaling>
        <c:delete val="0"/>
        <c:axPos val="l"/>
        <c:majorGridlines/>
        <c:majorTickMark val="out"/>
        <c:minorTickMark val="none"/>
        <c:tickLblPos val="nextTo"/>
        <c:txPr>
          <a:bodyPr/>
          <a:lstStyle/>
          <a:p>
            <a:pPr>
              <a:defRPr sz="1000"/>
            </a:pPr>
          </a:p>
        </c:txPr>
        <c:crossAx val="-2068027336"/>
        <c:crosses val="autoZero"/>
      </c:valAx>
    </c:plotArea>
    <c:legend>
      <c:legendPos val="b"/>
      <c:overlay val="0"/>
      <c:txPr>
        <a:bodyPr/>
        <a:lstStyle/>
        <a:p>
          <a:pPr>
            <a:defRPr sz="1100">
              <a:latin typeface="맑은 고딕"/>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Farm하니 팀입니다. 저희는 공식 식물·작물 관리 문서를 근거로 개인화 상담을 제공하는 RAG 기반 식물 주치의 AI 서비스를 개발했습니다. 발표는 프로젝트 동기, 데이터 파이프라인, RAG 기술 구현과 품질 개선, 서비스 시연 순으로 진행하겠습니다.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순서입니다. 프로젝트 동기와 기존 서비스의 한계, 데이터 수집·전처리, RAG 기술 구현과 품질 개선, 서비스 시연, Q&amp;A 순으로 진행하겠습니다.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식물을 키우는 사용자는 물주기나 병해충 정보를 자주 검색하지만 정보가 파편화되어 있고, 일반 LLM은 근거 없는 답변이나 식물 오매칭 문제가 있습니다. Farm하니는 공식 문서만 근거로 쓰는 RAG에 사용자의 식물 정보, 재배일지, 사진을 결합해 출처가 남는 개인화 상담을 제공하는 것을 목표로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농업 플랫폼에도 병해충 상담 기능이 있지만, 화면에서 보시듯 이웃 문답형 커뮤니티에 가깝습니다. 답변까지 시간이 오래 걸리고, 답변자가 비전문가라 정확성을 검증하기 어렵고, 내 식물의 이력과도 연결되지 않는 일회성 문답입니다. Farm하니는 공식 문서 기반 RAG가 내 식물의 기록·사진과 결합해 즉시, 출처와 함께 답변하는 방식으로 이 한계를 해결합니다.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데이터는 농사로, NCPMS 병해충 정보, 국립수목원 도감, AI Hub, PSIS 농약 정보 등 12개 공공·공식 소스에서 수집했고, 최종 1,000건의 청크를 Supabase에 통합 적재했습니다. category로 문서 성격을 구분하고 usage_scope로 RAG 사용 범위를 제어해 농약 정보는 안전 참고용으로만 쓰이도록 관리합니다.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전처리 파이프라인은 수집, JSONL 정규화, 텍스트 클렌징, 식물명 메타 태깅, 청킹, 임베딩, Supabase 적재의 7단계로 재현 가능하게 구축했습니다. 청킹은 2200자 크기에 250자 오버랩, 임베딩은 text-embedding-3-small 1536차원을 사용했습니다. 자동 검증 스크립트로 최종 PASS를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시스템은 Vercel에 React 프론트, Render에 FastAPI 백엔드를 배포하고, Supabase가 인증·관계형 데이터·pgvector 벡터 검색·이미지 스토리지를 통합 담당합니다. LLM은 OpenAI GPT-4o-mini를 채팅, Vision, 임베딩에 사용합니다. 전 구간 실배포가 완료된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파이프라인은 LangGraph StateGraph로 구현한 10단계 에이전틱 워크플로우입니다. 왼쪽 그래프처럼 입력 검증부터 시작해, 1~4단계에서 사용자 맥락을 구조화하고, 5~6단계에서 쿼리 확장과 하이브리드 검색으로 후보를 폭넓게 수집합니다. 핵심은 빨간색 7단계 grade_or_rerank로, LLM이 문서를 하나씩 검증해 무관한 문서를 탈락시켜 환각을 차단합니다. 8~9단계에서 모드별 답변 생성과 안전 고지 조립, 10단계에서 상담 이력을 저장합니다.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초기에는 몬스테라 질문에 윌마나 무화과 문서가 검색되는 오매칭과, 무관 문서 강제 주입으로 인한 환각 문제가 있었습니다. 임계값을 낮춰 후보를 넓게 수집하고 grade_or_rerank에서 엄격히 걸러내는 Two-Stage Retrieval과 조사 제거 휴리스틱, RRF 병합, 쿼리 확장을 적용해 검색 정확도가 3.58에서 4.83점으로 개선됐고 사진 반영은 만점을 기록했습니다.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배포된 서비스의 메인 대시보드입니다. 내 식물 카드, 건강 개요, 빠른 AI 진단 버튼이 보입니다. 시연은 회원가입, 식물 등록, 대시보드 확인, AI 상담 순으로 진행합니다. 전문가 모드와 내 식물과 대화하는 1인칭 모드를 선택할 수 있고, 사진을 첨부하면 Vision 분석이 반영되며 답변에는 공식 문서 출처가 함께 표시됩니다.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향후에는 데이터 커버리지 확장, 물주기 리마인드, 이미지 진단 고도화, 안전한 거절 패턴의 지속 개선을 계획하고 있습니다.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92640" y="-1097280"/>
            <a:ext cx="3840480" cy="3840480"/>
          </a:xfrm>
          <a:prstGeom prst="ellipse">
            <a:avLst/>
          </a:prstGeom>
          <a:solidFill>
            <a:srgbClr val="EE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81360" y="5120640"/>
            <a:ext cx="2377440" cy="2377440"/>
          </a:xfrm>
          <a:prstGeom prst="ellipse">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5394960"/>
            <a:ext cx="2377440" cy="2377440"/>
          </a:xfrm>
          <a:prstGeom prst="ellipse">
            <a:avLst/>
          </a:prstGeom>
          <a:solidFill>
            <a:srgbClr val="EE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058400" cy="1371600"/>
          </a:xfrm>
          <a:prstGeom prst="rect">
            <a:avLst/>
          </a:prstGeom>
          <a:noFill/>
        </p:spPr>
        <p:txBody>
          <a:bodyPr wrap="square" anchor="t" lIns="101600" rIns="101600" tIns="50800" bIns="50800">
            <a:spAutoFit/>
          </a:bodyPr>
          <a:lstStyle/>
          <a:p>
            <a:pPr algn="l">
              <a:lnSpc>
                <a:spcPct val="112000"/>
              </a:lnSpc>
            </a:pPr>
            <a:r>
              <a:rPr sz="6600" b="1">
                <a:solidFill>
                  <a:srgbClr val="1E4D2B"/>
                </a:solidFill>
                <a:latin typeface="맑은 고딕"/>
              </a:rPr>
              <a:t>Farm하니?</a:t>
            </a:r>
          </a:p>
        </p:txBody>
      </p:sp>
      <p:sp>
        <p:nvSpPr>
          <p:cNvPr id="7" name="Rectangle 6"/>
          <p:cNvSpPr/>
          <p:nvPr/>
        </p:nvSpPr>
        <p:spPr>
          <a:xfrm>
            <a:off x="1051560" y="3063240"/>
            <a:ext cx="2194560" cy="82296"/>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91840"/>
            <a:ext cx="10058400" cy="640080"/>
          </a:xfrm>
          <a:prstGeom prst="rect">
            <a:avLst/>
          </a:prstGeom>
          <a:noFill/>
        </p:spPr>
        <p:txBody>
          <a:bodyPr wrap="square" anchor="t" lIns="101600" rIns="101600" tIns="50800" bIns="50800">
            <a:spAutoFit/>
          </a:bodyPr>
          <a:lstStyle/>
          <a:p>
            <a:pPr algn="l">
              <a:lnSpc>
                <a:spcPct val="112000"/>
              </a:lnSpc>
            </a:pPr>
            <a:r>
              <a:rPr sz="2800" b="1">
                <a:solidFill>
                  <a:srgbClr val="3B7A57"/>
                </a:solidFill>
                <a:latin typeface="맑은 고딕"/>
              </a:rPr>
              <a:t>RAG 기반 식물 주치의 AI</a:t>
            </a:r>
          </a:p>
        </p:txBody>
      </p:sp>
      <p:sp>
        <p:nvSpPr>
          <p:cNvPr id="9" name="TextBox 8"/>
          <p:cNvSpPr txBox="1"/>
          <p:nvPr/>
        </p:nvSpPr>
        <p:spPr>
          <a:xfrm>
            <a:off x="1024128" y="4023360"/>
            <a:ext cx="9601200" cy="548640"/>
          </a:xfrm>
          <a:prstGeom prst="rect">
            <a:avLst/>
          </a:prstGeom>
          <a:noFill/>
        </p:spPr>
        <p:txBody>
          <a:bodyPr wrap="square" anchor="t" lIns="101600" rIns="101600" tIns="50800" bIns="50800">
            <a:spAutoFit/>
          </a:bodyPr>
          <a:lstStyle/>
          <a:p>
            <a:pPr algn="l">
              <a:lnSpc>
                <a:spcPct val="112000"/>
              </a:lnSpc>
            </a:pPr>
            <a:r>
              <a:rPr sz="1500" b="0">
                <a:solidFill>
                  <a:srgbClr val="8A8A8A"/>
                </a:solidFill>
                <a:latin typeface="맑은 고딕"/>
              </a:rPr>
              <a:t>공식 식물·작물 관리 문서를 기반으로 개인화 상담을 제공하는 AI 식물 관리 서비스</a:t>
            </a:r>
          </a:p>
        </p:txBody>
      </p:sp>
      <p:sp>
        <p:nvSpPr>
          <p:cNvPr id="10" name="TextBox 9"/>
          <p:cNvSpPr txBox="1"/>
          <p:nvPr/>
        </p:nvSpPr>
        <p:spPr>
          <a:xfrm>
            <a:off x="1024128" y="5212080"/>
            <a:ext cx="9601200" cy="822960"/>
          </a:xfrm>
          <a:prstGeom prst="rect">
            <a:avLst/>
          </a:prstGeom>
          <a:noFill/>
        </p:spPr>
        <p:txBody>
          <a:bodyPr wrap="square" anchor="t" lIns="101600" rIns="101600" tIns="50800" bIns="50800">
            <a:spAutoFit/>
          </a:bodyPr>
          <a:lstStyle/>
          <a:p>
            <a:pPr algn="l">
              <a:lnSpc>
                <a:spcPct val="112000"/>
              </a:lnSpc>
            </a:pPr>
            <a:r>
              <a:rPr sz="1300" b="0">
                <a:solidFill>
                  <a:srgbClr val="8A8A8A"/>
                </a:solidFill>
                <a:latin typeface="맑은 고딕"/>
              </a:rPr>
              <a:t>SKN30 3차 단위 프로젝트  |  3팀</a:t>
            </a:r>
          </a:p>
          <a:p>
            <a:pPr algn="l">
              <a:lnSpc>
                <a:spcPct val="112000"/>
              </a:lnSpc>
            </a:pPr>
            <a:r>
              <a:rPr sz="1300" b="0">
                <a:solidFill>
                  <a:srgbClr val="8A8A8A"/>
                </a:solidFill>
                <a:latin typeface="맑은 고딕"/>
              </a:rPr>
              <a:t>총괄·프론트 설계  ·  데이터 수집/전처리  ·  백엔드/서버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목차</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Contents</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463040"/>
            <a:ext cx="868680" cy="777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81912"/>
            <a:ext cx="868680" cy="548640"/>
          </a:xfrm>
          <a:prstGeom prst="rect">
            <a:avLst/>
          </a:prstGeom>
          <a:noFill/>
        </p:spPr>
        <p:txBody>
          <a:bodyPr wrap="square" anchor="t" lIns="101600" rIns="101600" tIns="50800" bIns="50800">
            <a:spAutoFit/>
          </a:bodyPr>
          <a:lstStyle/>
          <a:p>
            <a:pPr algn="ctr">
              <a:lnSpc>
                <a:spcPct val="112000"/>
              </a:lnSpc>
            </a:pPr>
            <a:r>
              <a:rPr sz="2200" b="1">
                <a:solidFill>
                  <a:srgbClr val="7CB342"/>
                </a:solidFill>
                <a:latin typeface="맑은 고딕"/>
              </a:rPr>
              <a:t>01</a:t>
            </a:r>
          </a:p>
        </p:txBody>
      </p:sp>
      <p:sp>
        <p:nvSpPr>
          <p:cNvPr id="8" name="Rounded Rectangle 7"/>
          <p:cNvSpPr/>
          <p:nvPr/>
        </p:nvSpPr>
        <p:spPr>
          <a:xfrm>
            <a:off x="1965960" y="1463040"/>
            <a:ext cx="9326880" cy="7772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65960" y="1463040"/>
            <a:ext cx="64008" cy="7772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80" y="1554480"/>
            <a:ext cx="5303520" cy="457200"/>
          </a:xfrm>
          <a:prstGeom prst="rect">
            <a:avLst/>
          </a:prstGeom>
          <a:noFill/>
        </p:spPr>
        <p:txBody>
          <a:bodyPr wrap="square" anchor="t" lIns="101600" rIns="101600" tIns="50800" bIns="50800">
            <a:spAutoFit/>
          </a:bodyPr>
          <a:lstStyle/>
          <a:p>
            <a:pPr algn="l">
              <a:lnSpc>
                <a:spcPct val="112000"/>
              </a:lnSpc>
            </a:pPr>
            <a:r>
              <a:rPr sz="1800" b="1">
                <a:solidFill>
                  <a:srgbClr val="1E4D2B"/>
                </a:solidFill>
                <a:latin typeface="맑은 고딕"/>
              </a:rPr>
              <a:t>프로젝트 주제 및 동기</a:t>
            </a:r>
          </a:p>
        </p:txBody>
      </p:sp>
      <p:sp>
        <p:nvSpPr>
          <p:cNvPr id="11" name="TextBox 10"/>
          <p:cNvSpPr txBox="1"/>
          <p:nvPr/>
        </p:nvSpPr>
        <p:spPr>
          <a:xfrm>
            <a:off x="7406640" y="1645920"/>
            <a:ext cx="3840480" cy="45720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문제 정의 · 기존 서비스의 한계</a:t>
            </a:r>
          </a:p>
        </p:txBody>
      </p:sp>
      <p:sp>
        <p:nvSpPr>
          <p:cNvPr id="12" name="Rounded Rectangle 11"/>
          <p:cNvSpPr/>
          <p:nvPr/>
        </p:nvSpPr>
        <p:spPr>
          <a:xfrm>
            <a:off x="914400" y="2468880"/>
            <a:ext cx="868680" cy="777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587752"/>
            <a:ext cx="868680" cy="548640"/>
          </a:xfrm>
          <a:prstGeom prst="rect">
            <a:avLst/>
          </a:prstGeom>
          <a:noFill/>
        </p:spPr>
        <p:txBody>
          <a:bodyPr wrap="square" anchor="t" lIns="101600" rIns="101600" tIns="50800" bIns="50800">
            <a:spAutoFit/>
          </a:bodyPr>
          <a:lstStyle/>
          <a:p>
            <a:pPr algn="ctr">
              <a:lnSpc>
                <a:spcPct val="112000"/>
              </a:lnSpc>
            </a:pPr>
            <a:r>
              <a:rPr sz="2200" b="1">
                <a:solidFill>
                  <a:srgbClr val="7CB342"/>
                </a:solidFill>
                <a:latin typeface="맑은 고딕"/>
              </a:rPr>
              <a:t>02</a:t>
            </a:r>
          </a:p>
        </p:txBody>
      </p:sp>
      <p:sp>
        <p:nvSpPr>
          <p:cNvPr id="14" name="Rounded Rectangle 13"/>
          <p:cNvSpPr/>
          <p:nvPr/>
        </p:nvSpPr>
        <p:spPr>
          <a:xfrm>
            <a:off x="1965960" y="2468880"/>
            <a:ext cx="9326880" cy="7772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965960" y="2468880"/>
            <a:ext cx="64008" cy="7772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40280" y="2560320"/>
            <a:ext cx="5303520" cy="457200"/>
          </a:xfrm>
          <a:prstGeom prst="rect">
            <a:avLst/>
          </a:prstGeom>
          <a:noFill/>
        </p:spPr>
        <p:txBody>
          <a:bodyPr wrap="square" anchor="t" lIns="101600" rIns="101600" tIns="50800" bIns="50800">
            <a:spAutoFit/>
          </a:bodyPr>
          <a:lstStyle/>
          <a:p>
            <a:pPr algn="l">
              <a:lnSpc>
                <a:spcPct val="112000"/>
              </a:lnSpc>
            </a:pPr>
            <a:r>
              <a:rPr sz="1800" b="1">
                <a:solidFill>
                  <a:srgbClr val="1E4D2B"/>
                </a:solidFill>
                <a:latin typeface="맑은 고딕"/>
              </a:rPr>
              <a:t>데이터 수집 및 전처리</a:t>
            </a:r>
          </a:p>
        </p:txBody>
      </p:sp>
      <p:sp>
        <p:nvSpPr>
          <p:cNvPr id="17" name="TextBox 16"/>
          <p:cNvSpPr txBox="1"/>
          <p:nvPr/>
        </p:nvSpPr>
        <p:spPr>
          <a:xfrm>
            <a:off x="7406640" y="2651760"/>
            <a:ext cx="3840480" cy="45720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공식 데이터 1,000건 파이프라인</a:t>
            </a:r>
          </a:p>
        </p:txBody>
      </p:sp>
      <p:sp>
        <p:nvSpPr>
          <p:cNvPr id="18" name="Rounded Rectangle 17"/>
          <p:cNvSpPr/>
          <p:nvPr/>
        </p:nvSpPr>
        <p:spPr>
          <a:xfrm>
            <a:off x="914400" y="3474720"/>
            <a:ext cx="868680" cy="777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593592"/>
            <a:ext cx="868680" cy="548640"/>
          </a:xfrm>
          <a:prstGeom prst="rect">
            <a:avLst/>
          </a:prstGeom>
          <a:noFill/>
        </p:spPr>
        <p:txBody>
          <a:bodyPr wrap="square" anchor="t" lIns="101600" rIns="101600" tIns="50800" bIns="50800">
            <a:spAutoFit/>
          </a:bodyPr>
          <a:lstStyle/>
          <a:p>
            <a:pPr algn="ctr">
              <a:lnSpc>
                <a:spcPct val="112000"/>
              </a:lnSpc>
            </a:pPr>
            <a:r>
              <a:rPr sz="2200" b="1">
                <a:solidFill>
                  <a:srgbClr val="7CB342"/>
                </a:solidFill>
                <a:latin typeface="맑은 고딕"/>
              </a:rPr>
              <a:t>03</a:t>
            </a:r>
          </a:p>
        </p:txBody>
      </p:sp>
      <p:sp>
        <p:nvSpPr>
          <p:cNvPr id="20" name="Rounded Rectangle 19"/>
          <p:cNvSpPr/>
          <p:nvPr/>
        </p:nvSpPr>
        <p:spPr>
          <a:xfrm>
            <a:off x="1965960" y="3474720"/>
            <a:ext cx="9326880" cy="7772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65960" y="3474720"/>
            <a:ext cx="64008" cy="7772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40280" y="3566160"/>
            <a:ext cx="5303520" cy="457200"/>
          </a:xfrm>
          <a:prstGeom prst="rect">
            <a:avLst/>
          </a:prstGeom>
          <a:noFill/>
        </p:spPr>
        <p:txBody>
          <a:bodyPr wrap="square" anchor="t" lIns="101600" rIns="101600" tIns="50800" bIns="50800">
            <a:spAutoFit/>
          </a:bodyPr>
          <a:lstStyle/>
          <a:p>
            <a:pPr algn="l">
              <a:lnSpc>
                <a:spcPct val="112000"/>
              </a:lnSpc>
            </a:pPr>
            <a:r>
              <a:rPr sz="1800" b="1">
                <a:solidFill>
                  <a:srgbClr val="1E4D2B"/>
                </a:solidFill>
                <a:latin typeface="맑은 고딕"/>
              </a:rPr>
              <a:t>RAG 기술 구현 및 품질 개선</a:t>
            </a:r>
          </a:p>
        </p:txBody>
      </p:sp>
      <p:sp>
        <p:nvSpPr>
          <p:cNvPr id="23" name="TextBox 22"/>
          <p:cNvSpPr txBox="1"/>
          <p:nvPr/>
        </p:nvSpPr>
        <p:spPr>
          <a:xfrm>
            <a:off x="7406640" y="3657600"/>
            <a:ext cx="3840480" cy="45720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LangGraph 10단계 · LLM-as-a-Judge 평가</a:t>
            </a:r>
          </a:p>
        </p:txBody>
      </p:sp>
      <p:sp>
        <p:nvSpPr>
          <p:cNvPr id="24" name="Rounded Rectangle 23"/>
          <p:cNvSpPr/>
          <p:nvPr/>
        </p:nvSpPr>
        <p:spPr>
          <a:xfrm>
            <a:off x="914400" y="4480560"/>
            <a:ext cx="868680" cy="777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599432"/>
            <a:ext cx="868680" cy="548640"/>
          </a:xfrm>
          <a:prstGeom prst="rect">
            <a:avLst/>
          </a:prstGeom>
          <a:noFill/>
        </p:spPr>
        <p:txBody>
          <a:bodyPr wrap="square" anchor="t" lIns="101600" rIns="101600" tIns="50800" bIns="50800">
            <a:spAutoFit/>
          </a:bodyPr>
          <a:lstStyle/>
          <a:p>
            <a:pPr algn="ctr">
              <a:lnSpc>
                <a:spcPct val="112000"/>
              </a:lnSpc>
            </a:pPr>
            <a:r>
              <a:rPr sz="2200" b="1">
                <a:solidFill>
                  <a:srgbClr val="7CB342"/>
                </a:solidFill>
                <a:latin typeface="맑은 고딕"/>
              </a:rPr>
              <a:t>04</a:t>
            </a:r>
          </a:p>
        </p:txBody>
      </p:sp>
      <p:sp>
        <p:nvSpPr>
          <p:cNvPr id="26" name="Rounded Rectangle 25"/>
          <p:cNvSpPr/>
          <p:nvPr/>
        </p:nvSpPr>
        <p:spPr>
          <a:xfrm>
            <a:off x="1965960" y="4480560"/>
            <a:ext cx="9326880" cy="7772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65960" y="4480560"/>
            <a:ext cx="64008" cy="7772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40280" y="4572000"/>
            <a:ext cx="5303520" cy="457200"/>
          </a:xfrm>
          <a:prstGeom prst="rect">
            <a:avLst/>
          </a:prstGeom>
          <a:noFill/>
        </p:spPr>
        <p:txBody>
          <a:bodyPr wrap="square" anchor="t" lIns="101600" rIns="101600" tIns="50800" bIns="50800">
            <a:spAutoFit/>
          </a:bodyPr>
          <a:lstStyle/>
          <a:p>
            <a:pPr algn="l">
              <a:lnSpc>
                <a:spcPct val="112000"/>
              </a:lnSpc>
            </a:pPr>
            <a:r>
              <a:rPr sz="1800" b="1">
                <a:solidFill>
                  <a:srgbClr val="1E4D2B"/>
                </a:solidFill>
                <a:latin typeface="맑은 고딕"/>
              </a:rPr>
              <a:t>서비스 시연</a:t>
            </a:r>
          </a:p>
        </p:txBody>
      </p:sp>
      <p:sp>
        <p:nvSpPr>
          <p:cNvPr id="29" name="TextBox 28"/>
          <p:cNvSpPr txBox="1"/>
          <p:nvPr/>
        </p:nvSpPr>
        <p:spPr>
          <a:xfrm>
            <a:off x="7406640" y="4663440"/>
            <a:ext cx="3840480" cy="45720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대시보드부터 AI 상담까지</a:t>
            </a:r>
          </a:p>
        </p:txBody>
      </p:sp>
      <p:sp>
        <p:nvSpPr>
          <p:cNvPr id="30" name="Rounded Rectangle 29"/>
          <p:cNvSpPr/>
          <p:nvPr/>
        </p:nvSpPr>
        <p:spPr>
          <a:xfrm>
            <a:off x="914400" y="5486400"/>
            <a:ext cx="868680" cy="777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605272"/>
            <a:ext cx="868680" cy="548640"/>
          </a:xfrm>
          <a:prstGeom prst="rect">
            <a:avLst/>
          </a:prstGeom>
          <a:noFill/>
        </p:spPr>
        <p:txBody>
          <a:bodyPr wrap="square" anchor="t" lIns="101600" rIns="101600" tIns="50800" bIns="50800">
            <a:spAutoFit/>
          </a:bodyPr>
          <a:lstStyle/>
          <a:p>
            <a:pPr algn="ctr">
              <a:lnSpc>
                <a:spcPct val="112000"/>
              </a:lnSpc>
            </a:pPr>
            <a:r>
              <a:rPr sz="2200" b="1">
                <a:solidFill>
                  <a:srgbClr val="7CB342"/>
                </a:solidFill>
                <a:latin typeface="맑은 고딕"/>
              </a:rPr>
              <a:t>05</a:t>
            </a:r>
          </a:p>
        </p:txBody>
      </p:sp>
      <p:sp>
        <p:nvSpPr>
          <p:cNvPr id="32" name="Rounded Rectangle 31"/>
          <p:cNvSpPr/>
          <p:nvPr/>
        </p:nvSpPr>
        <p:spPr>
          <a:xfrm>
            <a:off x="1965960" y="5486400"/>
            <a:ext cx="9326880" cy="7772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65960" y="5486400"/>
            <a:ext cx="64008" cy="7772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40280" y="5577840"/>
            <a:ext cx="5303520" cy="457200"/>
          </a:xfrm>
          <a:prstGeom prst="rect">
            <a:avLst/>
          </a:prstGeom>
          <a:noFill/>
        </p:spPr>
        <p:txBody>
          <a:bodyPr wrap="square" anchor="t" lIns="101600" rIns="101600" tIns="50800" bIns="50800">
            <a:spAutoFit/>
          </a:bodyPr>
          <a:lstStyle/>
          <a:p>
            <a:pPr algn="l">
              <a:lnSpc>
                <a:spcPct val="112000"/>
              </a:lnSpc>
            </a:pPr>
            <a:r>
              <a:rPr sz="1800" b="1">
                <a:solidFill>
                  <a:srgbClr val="1E4D2B"/>
                </a:solidFill>
                <a:latin typeface="맑은 고딕"/>
              </a:rPr>
              <a:t>Q&amp;A</a:t>
            </a:r>
          </a:p>
        </p:txBody>
      </p:sp>
      <p:sp>
        <p:nvSpPr>
          <p:cNvPr id="35" name="TextBox 34"/>
          <p:cNvSpPr txBox="1"/>
          <p:nvPr/>
        </p:nvSpPr>
        <p:spPr>
          <a:xfrm>
            <a:off x="7406640" y="5669280"/>
            <a:ext cx="3840480" cy="45720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질의응답 및 향후 계획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프로젝트 주제 및 목표</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문제 정의 → 해결 방향 → 서비스 목표</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81328"/>
            <a:ext cx="3566160" cy="27889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50" b="1">
                <a:solidFill>
                  <a:srgbClr val="C0453E"/>
                </a:solidFill>
                <a:latin typeface="맑은 고딕"/>
              </a:rPr>
              <a:t>문제</a:t>
            </a:r>
          </a:p>
          <a:p>
            <a:pPr algn="l">
              <a:lnSpc>
                <a:spcPct val="118000"/>
              </a:lnSpc>
            </a:pPr>
            <a:r>
              <a:rPr sz="1300" b="0">
                <a:solidFill>
                  <a:srgbClr val="3A3A3A"/>
                </a:solidFill>
                <a:latin typeface="맑은 고딕"/>
              </a:rPr>
              <a:t>·  물주기·광량·병해충 정보가 블로그, 카페 등에 파편화</a:t>
            </a:r>
          </a:p>
          <a:p>
            <a:pPr algn="l">
              <a:lnSpc>
                <a:spcPct val="118000"/>
              </a:lnSpc>
            </a:pPr>
            <a:r>
              <a:rPr sz="1300" b="0">
                <a:solidFill>
                  <a:srgbClr val="3A3A3A"/>
                </a:solidFill>
                <a:latin typeface="맑은 고딕"/>
              </a:rPr>
              <a:t>·  일반 LLM은 근거 없는 답변, 식물 오매칭 발생</a:t>
            </a:r>
          </a:p>
          <a:p>
            <a:pPr algn="l">
              <a:lnSpc>
                <a:spcPct val="118000"/>
              </a:lnSpc>
            </a:pPr>
            <a:r>
              <a:rPr sz="1300" b="0">
                <a:solidFill>
                  <a:srgbClr val="3A3A3A"/>
                </a:solidFill>
                <a:latin typeface="맑은 고딕"/>
              </a:rPr>
              <a:t>·  내 식물의 상태·기록을 반영한 상담 부재</a:t>
            </a:r>
          </a:p>
        </p:txBody>
      </p:sp>
      <p:sp>
        <p:nvSpPr>
          <p:cNvPr id="7" name="Rectangle 6"/>
          <p:cNvSpPr/>
          <p:nvPr/>
        </p:nvSpPr>
        <p:spPr>
          <a:xfrm>
            <a:off x="548640" y="1481328"/>
            <a:ext cx="3566160" cy="73152"/>
          </a:xfrm>
          <a:prstGeom prst="rect">
            <a:avLst/>
          </a:prstGeom>
          <a:solidFill>
            <a:srgbClr val="C04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4114800" y="2743200"/>
            <a:ext cx="219456"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52544" y="1481328"/>
            <a:ext cx="3566160" cy="27889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50" b="1">
                <a:solidFill>
                  <a:srgbClr val="3B7A57"/>
                </a:solidFill>
                <a:latin typeface="맑은 고딕"/>
              </a:rPr>
              <a:t>해결 방향</a:t>
            </a:r>
          </a:p>
          <a:p>
            <a:pPr algn="l">
              <a:lnSpc>
                <a:spcPct val="118000"/>
              </a:lnSpc>
            </a:pPr>
            <a:r>
              <a:rPr sz="1300" b="0">
                <a:solidFill>
                  <a:srgbClr val="3A3A3A"/>
                </a:solidFill>
                <a:latin typeface="맑은 고딕"/>
              </a:rPr>
              <a:t>·  공식 원예·농업 문서만 근거로 사용하는 RAG</a:t>
            </a:r>
          </a:p>
          <a:p>
            <a:pPr algn="l">
              <a:lnSpc>
                <a:spcPct val="118000"/>
              </a:lnSpc>
            </a:pPr>
            <a:r>
              <a:rPr sz="1300" b="0">
                <a:solidFill>
                  <a:srgbClr val="3A3A3A"/>
                </a:solidFill>
                <a:latin typeface="맑은 고딕"/>
              </a:rPr>
              <a:t>·  식물 프로필 + 재배일지 + 사진을 결합한 개인화 상담</a:t>
            </a:r>
          </a:p>
          <a:p>
            <a:pPr algn="l">
              <a:lnSpc>
                <a:spcPct val="118000"/>
              </a:lnSpc>
            </a:pPr>
            <a:r>
              <a:rPr sz="1300" b="0">
                <a:solidFill>
                  <a:srgbClr val="3A3A3A"/>
                </a:solidFill>
                <a:latin typeface="맑은 고딕"/>
              </a:rPr>
              <a:t>·  출처(citations)가 명시되는 신뢰 가능한 답변</a:t>
            </a:r>
          </a:p>
        </p:txBody>
      </p:sp>
      <p:sp>
        <p:nvSpPr>
          <p:cNvPr id="10" name="Rectangle 9"/>
          <p:cNvSpPr/>
          <p:nvPr/>
        </p:nvSpPr>
        <p:spPr>
          <a:xfrm>
            <a:off x="4352544" y="1481328"/>
            <a:ext cx="3566160" cy="73152"/>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7918704" y="2743200"/>
            <a:ext cx="219456"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56448" y="1481328"/>
            <a:ext cx="3566160" cy="27889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50" b="1">
                <a:solidFill>
                  <a:srgbClr val="1E4D2B"/>
                </a:solidFill>
                <a:latin typeface="맑은 고딕"/>
              </a:rPr>
              <a:t>서비스 목표</a:t>
            </a:r>
          </a:p>
          <a:p>
            <a:pPr algn="l">
              <a:lnSpc>
                <a:spcPct val="118000"/>
              </a:lnSpc>
            </a:pPr>
            <a:r>
              <a:rPr sz="1300" b="0">
                <a:solidFill>
                  <a:srgbClr val="3A3A3A"/>
                </a:solidFill>
                <a:latin typeface="맑은 고딕"/>
              </a:rPr>
              <a:t>·  식물 등록 및 관리 기록(일지·사진) 관리</a:t>
            </a:r>
          </a:p>
          <a:p>
            <a:pPr algn="l">
              <a:lnSpc>
                <a:spcPct val="118000"/>
              </a:lnSpc>
            </a:pPr>
            <a:r>
              <a:rPr sz="1300" b="0">
                <a:solidFill>
                  <a:srgbClr val="3A3A3A"/>
                </a:solidFill>
                <a:latin typeface="맑은 고딕"/>
              </a:rPr>
              <a:t>·  사진 기반 이상 신호 진단 보조</a:t>
            </a:r>
          </a:p>
          <a:p>
            <a:pPr algn="l">
              <a:lnSpc>
                <a:spcPct val="118000"/>
              </a:lnSpc>
            </a:pPr>
            <a:r>
              <a:rPr sz="1300" b="0">
                <a:solidFill>
                  <a:srgbClr val="3A3A3A"/>
                </a:solidFill>
                <a:latin typeface="맑은 고딕"/>
              </a:rPr>
              <a:t>·  공식 문서 RAG 상담 + 출처 표시</a:t>
            </a:r>
          </a:p>
          <a:p>
            <a:pPr algn="l">
              <a:lnSpc>
                <a:spcPct val="118000"/>
              </a:lnSpc>
            </a:pPr>
            <a:r>
              <a:rPr sz="1300" b="0">
                <a:solidFill>
                  <a:srgbClr val="3A3A3A"/>
                </a:solidFill>
                <a:latin typeface="맑은 고딕"/>
              </a:rPr>
              <a:t>·  사용자별 상담 내역 보존</a:t>
            </a:r>
          </a:p>
        </p:txBody>
      </p:sp>
      <p:sp>
        <p:nvSpPr>
          <p:cNvPr id="13" name="Rectangle 12"/>
          <p:cNvSpPr/>
          <p:nvPr/>
        </p:nvSpPr>
        <p:spPr>
          <a:xfrm>
            <a:off x="8156448" y="1481328"/>
            <a:ext cx="3566160" cy="73152"/>
          </a:xfrm>
          <a:prstGeom prst="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4709160"/>
            <a:ext cx="11091672" cy="132588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700" b="1">
                <a:solidFill>
                  <a:srgbClr val="FFFFFF"/>
                </a:solidFill>
                <a:latin typeface="맑은 고딕"/>
              </a:rPr>
              <a:t>"단순 LLM 답변이 아니라, 공식 문서 검색(RAG) · 사용자 식물 기록 · 사진 분석을 결합해</a:t>
            </a:r>
          </a:p>
          <a:p>
            <a:pPr algn="ctr">
              <a:lnSpc>
                <a:spcPct val="112000"/>
              </a:lnSpc>
            </a:pPr>
            <a:r>
              <a:rPr sz="1700" b="1">
                <a:solidFill>
                  <a:srgbClr val="FFFFFF"/>
                </a:solidFill>
                <a:latin typeface="맑은 고딕"/>
              </a:rPr>
              <a:t>근거가 남는 식물 관리 상담을 제공한다"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기존 서비스의 한계</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커뮤니티 기반 상담 — 즉각적이고 공식적인 답변을 받기 어려움</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팜모닝외부서비스.png"/>
          <p:cNvPicPr>
            <a:picLocks noChangeAspect="1"/>
          </p:cNvPicPr>
          <p:nvPr/>
        </p:nvPicPr>
        <p:blipFill>
          <a:blip r:embed="rId2"/>
          <a:stretch>
            <a:fillRect/>
          </a:stretch>
        </p:blipFill>
        <p:spPr>
          <a:xfrm>
            <a:off x="548640" y="1508760"/>
            <a:ext cx="6675120" cy="3673937"/>
          </a:xfrm>
          <a:prstGeom prst="rect">
            <a:avLst/>
          </a:prstGeom>
          <a:ln w="15875">
            <a:solidFill>
              <a:srgbClr val="E8E8E8"/>
            </a:solidFill>
          </a:ln>
        </p:spPr>
      </p:pic>
      <p:sp>
        <p:nvSpPr>
          <p:cNvPr id="7" name="TextBox 6"/>
          <p:cNvSpPr txBox="1"/>
          <p:nvPr/>
        </p:nvSpPr>
        <p:spPr>
          <a:xfrm>
            <a:off x="566928" y="5257800"/>
            <a:ext cx="6675120" cy="365760"/>
          </a:xfrm>
          <a:prstGeom prst="rect">
            <a:avLst/>
          </a:prstGeom>
          <a:noFill/>
        </p:spPr>
        <p:txBody>
          <a:bodyPr wrap="square" anchor="t" lIns="101600" rIns="101600" tIns="50800" bIns="50800">
            <a:spAutoFit/>
          </a:bodyPr>
          <a:lstStyle/>
          <a:p>
            <a:pPr algn="l">
              <a:lnSpc>
                <a:spcPct val="112000"/>
              </a:lnSpc>
            </a:pPr>
            <a:r>
              <a:rPr sz="1150" b="0">
                <a:solidFill>
                  <a:srgbClr val="8A8A8A"/>
                </a:solidFill>
                <a:latin typeface="맑은 고딕"/>
              </a:rPr>
              <a:t>▲ 기존 농업 플랫폼의 병해충 상담 — 이웃 문답형 커뮤니티 구조</a:t>
            </a:r>
          </a:p>
        </p:txBody>
      </p:sp>
      <p:sp>
        <p:nvSpPr>
          <p:cNvPr id="8" name="Rounded Rectangle 7"/>
          <p:cNvSpPr/>
          <p:nvPr/>
        </p:nvSpPr>
        <p:spPr>
          <a:xfrm>
            <a:off x="7543800" y="1508760"/>
            <a:ext cx="4069080" cy="23774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50" b="1">
                <a:solidFill>
                  <a:srgbClr val="C0453E"/>
                </a:solidFill>
                <a:latin typeface="맑은 고딕"/>
              </a:rPr>
              <a:t>커뮤니티 방식의 한계</a:t>
            </a:r>
          </a:p>
          <a:p>
            <a:pPr algn="l">
              <a:lnSpc>
                <a:spcPct val="118000"/>
              </a:lnSpc>
            </a:pPr>
            <a:r>
              <a:rPr sz="1300" b="0">
                <a:solidFill>
                  <a:srgbClr val="3A3A3A"/>
                </a:solidFill>
                <a:latin typeface="맑은 고딕"/>
              </a:rPr>
              <a:t>·  답변까지 수 시간~수 일 대기, 답변이 없을 수도 있음</a:t>
            </a:r>
          </a:p>
          <a:p>
            <a:pPr algn="l">
              <a:lnSpc>
                <a:spcPct val="118000"/>
              </a:lnSpc>
            </a:pPr>
            <a:r>
              <a:rPr sz="1300" b="0">
                <a:solidFill>
                  <a:srgbClr val="3A3A3A"/>
                </a:solidFill>
                <a:latin typeface="맑은 고딕"/>
              </a:rPr>
              <a:t>·  답변자가 비전문가 이웃 — 정확성 검증 불가</a:t>
            </a:r>
          </a:p>
          <a:p>
            <a:pPr algn="l">
              <a:lnSpc>
                <a:spcPct val="118000"/>
              </a:lnSpc>
            </a:pPr>
            <a:r>
              <a:rPr sz="1300" b="0">
                <a:solidFill>
                  <a:srgbClr val="3A3A3A"/>
                </a:solidFill>
                <a:latin typeface="맑은 고딕"/>
              </a:rPr>
              <a:t>·  같은 질문이 반복돼도 지식이 축적·재사용되지 않음</a:t>
            </a:r>
          </a:p>
          <a:p>
            <a:pPr algn="l">
              <a:lnSpc>
                <a:spcPct val="118000"/>
              </a:lnSpc>
            </a:pPr>
            <a:r>
              <a:rPr sz="1300" b="0">
                <a:solidFill>
                  <a:srgbClr val="3A3A3A"/>
                </a:solidFill>
                <a:latin typeface="맑은 고딕"/>
              </a:rPr>
              <a:t>·  내 식물의 이력(일지·사진)과 연결되지 않는 일회성 문답</a:t>
            </a:r>
          </a:p>
        </p:txBody>
      </p:sp>
      <p:sp>
        <p:nvSpPr>
          <p:cNvPr id="9" name="Rectangle 8"/>
          <p:cNvSpPr/>
          <p:nvPr/>
        </p:nvSpPr>
        <p:spPr>
          <a:xfrm>
            <a:off x="7543800" y="1508760"/>
            <a:ext cx="4069080" cy="73152"/>
          </a:xfrm>
          <a:prstGeom prst="rect">
            <a:avLst/>
          </a:prstGeom>
          <a:solidFill>
            <a:srgbClr val="C04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43800" y="4114800"/>
            <a:ext cx="4069080" cy="182880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600" b="1">
                <a:solidFill>
                  <a:srgbClr val="7CB342"/>
                </a:solidFill>
                <a:latin typeface="맑은 고딕"/>
              </a:rPr>
              <a:t>Farm하니의 접근</a:t>
            </a:r>
          </a:p>
          <a:p>
            <a:pPr algn="ctr">
              <a:lnSpc>
                <a:spcPct val="112000"/>
              </a:lnSpc>
            </a:pPr>
            <a:r>
              <a:rPr sz="1400" b="0">
                <a:solidFill>
                  <a:srgbClr val="FFFFFF"/>
                </a:solidFill>
                <a:latin typeface="맑은 고딕"/>
              </a:rPr>
              <a:t/>
            </a:r>
          </a:p>
          <a:p>
            <a:pPr algn="ctr">
              <a:lnSpc>
                <a:spcPct val="112000"/>
              </a:lnSpc>
            </a:pPr>
            <a:r>
              <a:rPr sz="1400" b="0">
                <a:solidFill>
                  <a:srgbClr val="FFFFFF"/>
                </a:solidFill>
                <a:latin typeface="맑은 고딕"/>
              </a:rPr>
              <a:t>공식 문서 기반 RAG가 내 식물의 기록·사진과 결합해 즉시, 출처와 함께 답변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데이터 수집 및 전처리 ① 데이터 소스</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공공·공식 데이터 12개 소스 → Supabase 통합 적재 1,000건</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554480"/>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645920"/>
            <a:ext cx="2468880" cy="365760"/>
          </a:xfrm>
          <a:prstGeom prst="rect">
            <a:avLst/>
          </a:prstGeom>
          <a:noFill/>
        </p:spPr>
        <p:txBody>
          <a:bodyPr wrap="square" anchor="t" lIns="101600" rIns="101600" tIns="50800" bIns="50800">
            <a:spAutoFit/>
          </a:bodyPr>
          <a:lstStyle/>
          <a:p>
            <a:pPr algn="l">
              <a:lnSpc>
                <a:spcPct val="112000"/>
              </a:lnSpc>
            </a:pPr>
            <a:r>
              <a:rPr sz="1500" b="1">
                <a:solidFill>
                  <a:srgbClr val="1E4D2B"/>
                </a:solidFill>
                <a:latin typeface="맑은 고딕"/>
              </a:rPr>
              <a:t>농사로</a:t>
            </a:r>
          </a:p>
        </p:txBody>
      </p:sp>
      <p:sp>
        <p:nvSpPr>
          <p:cNvPr id="9" name="TextBox 8"/>
          <p:cNvSpPr txBox="1"/>
          <p:nvPr/>
        </p:nvSpPr>
        <p:spPr>
          <a:xfrm>
            <a:off x="804672" y="2066544"/>
            <a:ext cx="2743200" cy="640080"/>
          </a:xfrm>
          <a:prstGeom prst="rect">
            <a:avLst/>
          </a:prstGeom>
          <a:noFill/>
        </p:spPr>
        <p:txBody>
          <a:bodyPr wrap="square" anchor="t" lIns="101600" rIns="101600" tIns="50800" bIns="50800">
            <a:spAutoFit/>
          </a:bodyPr>
          <a:lstStyle/>
          <a:p>
            <a:pPr algn="l">
              <a:lnSpc>
                <a:spcPct val="112000"/>
              </a:lnSpc>
            </a:pPr>
            <a:r>
              <a:rPr sz="1150" b="0">
                <a:solidFill>
                  <a:srgbClr val="8A8A8A"/>
                </a:solidFill>
                <a:latin typeface="맑은 고딕"/>
              </a:rPr>
              <a:t>작목 정보·전자책·농작업 일정</a:t>
            </a:r>
          </a:p>
        </p:txBody>
      </p:sp>
      <p:sp>
        <p:nvSpPr>
          <p:cNvPr id="10" name="TextBox 9"/>
          <p:cNvSpPr txBox="1"/>
          <p:nvPr/>
        </p:nvSpPr>
        <p:spPr>
          <a:xfrm>
            <a:off x="3154680" y="1645920"/>
            <a:ext cx="960120" cy="411480"/>
          </a:xfrm>
          <a:prstGeom prst="rect">
            <a:avLst/>
          </a:prstGeom>
          <a:noFill/>
        </p:spPr>
        <p:txBody>
          <a:bodyPr wrap="square" anchor="t" lIns="101600" rIns="101600" tIns="50800" bIns="50800">
            <a:spAutoFit/>
          </a:bodyPr>
          <a:lstStyle/>
          <a:p>
            <a:pPr algn="r">
              <a:lnSpc>
                <a:spcPct val="112000"/>
              </a:lnSpc>
            </a:pPr>
            <a:r>
              <a:rPr sz="1600" b="1">
                <a:solidFill>
                  <a:srgbClr val="3B7A57"/>
                </a:solidFill>
                <a:latin typeface="맑은 고딕"/>
              </a:rPr>
              <a:t>603건</a:t>
            </a:r>
          </a:p>
        </p:txBody>
      </p:sp>
      <p:sp>
        <p:nvSpPr>
          <p:cNvPr id="11" name="Rounded Rectangle 10"/>
          <p:cNvSpPr/>
          <p:nvPr/>
        </p:nvSpPr>
        <p:spPr>
          <a:xfrm>
            <a:off x="4480560" y="1554480"/>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60" y="1554480"/>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6592" y="1645920"/>
            <a:ext cx="2468880" cy="365760"/>
          </a:xfrm>
          <a:prstGeom prst="rect">
            <a:avLst/>
          </a:prstGeom>
          <a:noFill/>
        </p:spPr>
        <p:txBody>
          <a:bodyPr wrap="square" anchor="t" lIns="101600" rIns="101600" tIns="50800" bIns="50800">
            <a:spAutoFit/>
          </a:bodyPr>
          <a:lstStyle/>
          <a:p>
            <a:pPr algn="l">
              <a:lnSpc>
                <a:spcPct val="112000"/>
              </a:lnSpc>
            </a:pPr>
            <a:r>
              <a:rPr sz="1500" b="1">
                <a:solidFill>
                  <a:srgbClr val="1E4D2B"/>
                </a:solidFill>
                <a:latin typeface="맑은 고딕"/>
              </a:rPr>
              <a:t>NCPMS 병해충</a:t>
            </a:r>
          </a:p>
        </p:txBody>
      </p:sp>
      <p:sp>
        <p:nvSpPr>
          <p:cNvPr id="14" name="TextBox 13"/>
          <p:cNvSpPr txBox="1"/>
          <p:nvPr/>
        </p:nvSpPr>
        <p:spPr>
          <a:xfrm>
            <a:off x="4736592" y="2066544"/>
            <a:ext cx="2743200" cy="640080"/>
          </a:xfrm>
          <a:prstGeom prst="rect">
            <a:avLst/>
          </a:prstGeom>
          <a:noFill/>
        </p:spPr>
        <p:txBody>
          <a:bodyPr wrap="square" anchor="t" lIns="101600" rIns="101600" tIns="50800" bIns="50800">
            <a:spAutoFit/>
          </a:bodyPr>
          <a:lstStyle/>
          <a:p>
            <a:pPr algn="l">
              <a:lnSpc>
                <a:spcPct val="112000"/>
              </a:lnSpc>
            </a:pPr>
            <a:r>
              <a:rPr sz="1150" b="0">
                <a:solidFill>
                  <a:srgbClr val="8A8A8A"/>
                </a:solidFill>
                <a:latin typeface="맑은 고딕"/>
              </a:rPr>
              <a:t>병·해충 발생조건, 증상, 예방</a:t>
            </a:r>
          </a:p>
        </p:txBody>
      </p:sp>
      <p:sp>
        <p:nvSpPr>
          <p:cNvPr id="15" name="TextBox 14"/>
          <p:cNvSpPr txBox="1"/>
          <p:nvPr/>
        </p:nvSpPr>
        <p:spPr>
          <a:xfrm>
            <a:off x="7086600" y="1645920"/>
            <a:ext cx="960120" cy="411480"/>
          </a:xfrm>
          <a:prstGeom prst="rect">
            <a:avLst/>
          </a:prstGeom>
          <a:noFill/>
        </p:spPr>
        <p:txBody>
          <a:bodyPr wrap="square" anchor="t" lIns="101600" rIns="101600" tIns="50800" bIns="50800">
            <a:spAutoFit/>
          </a:bodyPr>
          <a:lstStyle/>
          <a:p>
            <a:pPr algn="r">
              <a:lnSpc>
                <a:spcPct val="112000"/>
              </a:lnSpc>
            </a:pPr>
            <a:r>
              <a:rPr sz="1600" b="1">
                <a:solidFill>
                  <a:srgbClr val="3B7A57"/>
                </a:solidFill>
                <a:latin typeface="맑은 고딕"/>
              </a:rPr>
              <a:t>61건</a:t>
            </a:r>
          </a:p>
        </p:txBody>
      </p:sp>
      <p:sp>
        <p:nvSpPr>
          <p:cNvPr id="16" name="Rounded Rectangle 15"/>
          <p:cNvSpPr/>
          <p:nvPr/>
        </p:nvSpPr>
        <p:spPr>
          <a:xfrm>
            <a:off x="548640" y="2962656"/>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62656"/>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054096"/>
            <a:ext cx="2468880" cy="365760"/>
          </a:xfrm>
          <a:prstGeom prst="rect">
            <a:avLst/>
          </a:prstGeom>
          <a:noFill/>
        </p:spPr>
        <p:txBody>
          <a:bodyPr wrap="square" anchor="t" lIns="101600" rIns="101600" tIns="50800" bIns="50800">
            <a:spAutoFit/>
          </a:bodyPr>
          <a:lstStyle/>
          <a:p>
            <a:pPr algn="l">
              <a:lnSpc>
                <a:spcPct val="112000"/>
              </a:lnSpc>
            </a:pPr>
            <a:r>
              <a:rPr sz="1500" b="1">
                <a:solidFill>
                  <a:srgbClr val="1E4D2B"/>
                </a:solidFill>
                <a:latin typeface="맑은 고딕"/>
              </a:rPr>
              <a:t>국립수목원 도감</a:t>
            </a:r>
          </a:p>
        </p:txBody>
      </p:sp>
      <p:sp>
        <p:nvSpPr>
          <p:cNvPr id="19" name="TextBox 18"/>
          <p:cNvSpPr txBox="1"/>
          <p:nvPr/>
        </p:nvSpPr>
        <p:spPr>
          <a:xfrm>
            <a:off x="804672" y="3474720"/>
            <a:ext cx="2743200" cy="640080"/>
          </a:xfrm>
          <a:prstGeom prst="rect">
            <a:avLst/>
          </a:prstGeom>
          <a:noFill/>
        </p:spPr>
        <p:txBody>
          <a:bodyPr wrap="square" anchor="t" lIns="101600" rIns="101600" tIns="50800" bIns="50800">
            <a:spAutoFit/>
          </a:bodyPr>
          <a:lstStyle/>
          <a:p>
            <a:pPr algn="l">
              <a:lnSpc>
                <a:spcPct val="112000"/>
              </a:lnSpc>
            </a:pPr>
            <a:r>
              <a:rPr sz="1150" b="0">
                <a:solidFill>
                  <a:srgbClr val="8A8A8A"/>
                </a:solidFill>
                <a:latin typeface="맑은 고딕"/>
              </a:rPr>
              <a:t>식물 특징·학명·과명 (OpenAPI)</a:t>
            </a:r>
          </a:p>
        </p:txBody>
      </p:sp>
      <p:sp>
        <p:nvSpPr>
          <p:cNvPr id="20" name="TextBox 19"/>
          <p:cNvSpPr txBox="1"/>
          <p:nvPr/>
        </p:nvSpPr>
        <p:spPr>
          <a:xfrm>
            <a:off x="3154680" y="3054096"/>
            <a:ext cx="960120" cy="411480"/>
          </a:xfrm>
          <a:prstGeom prst="rect">
            <a:avLst/>
          </a:prstGeom>
          <a:noFill/>
        </p:spPr>
        <p:txBody>
          <a:bodyPr wrap="square" anchor="t" lIns="101600" rIns="101600" tIns="50800" bIns="50800">
            <a:spAutoFit/>
          </a:bodyPr>
          <a:lstStyle/>
          <a:p>
            <a:pPr algn="r">
              <a:lnSpc>
                <a:spcPct val="112000"/>
              </a:lnSpc>
            </a:pPr>
            <a:r>
              <a:rPr sz="1600" b="1">
                <a:solidFill>
                  <a:srgbClr val="3B7A57"/>
                </a:solidFill>
                <a:latin typeface="맑은 고딕"/>
              </a:rPr>
              <a:t>100건</a:t>
            </a:r>
          </a:p>
        </p:txBody>
      </p:sp>
      <p:sp>
        <p:nvSpPr>
          <p:cNvPr id="21" name="Rounded Rectangle 20"/>
          <p:cNvSpPr/>
          <p:nvPr/>
        </p:nvSpPr>
        <p:spPr>
          <a:xfrm>
            <a:off x="4480560" y="2962656"/>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2962656"/>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36592" y="3054096"/>
            <a:ext cx="2468880" cy="365760"/>
          </a:xfrm>
          <a:prstGeom prst="rect">
            <a:avLst/>
          </a:prstGeom>
          <a:noFill/>
        </p:spPr>
        <p:txBody>
          <a:bodyPr wrap="square" anchor="t" lIns="101600" rIns="101600" tIns="50800" bIns="50800">
            <a:spAutoFit/>
          </a:bodyPr>
          <a:lstStyle/>
          <a:p>
            <a:pPr algn="l">
              <a:lnSpc>
                <a:spcPct val="112000"/>
              </a:lnSpc>
            </a:pPr>
            <a:r>
              <a:rPr sz="1500" b="1">
                <a:solidFill>
                  <a:srgbClr val="1E4D2B"/>
                </a:solidFill>
                <a:latin typeface="맑은 고딕"/>
              </a:rPr>
              <a:t>AI Hub</a:t>
            </a:r>
          </a:p>
        </p:txBody>
      </p:sp>
      <p:sp>
        <p:nvSpPr>
          <p:cNvPr id="24" name="TextBox 23"/>
          <p:cNvSpPr txBox="1"/>
          <p:nvPr/>
        </p:nvSpPr>
        <p:spPr>
          <a:xfrm>
            <a:off x="4736592" y="3474720"/>
            <a:ext cx="2743200" cy="640080"/>
          </a:xfrm>
          <a:prstGeom prst="rect">
            <a:avLst/>
          </a:prstGeom>
          <a:noFill/>
        </p:spPr>
        <p:txBody>
          <a:bodyPr wrap="square" anchor="t" lIns="101600" rIns="101600" tIns="50800" bIns="50800">
            <a:spAutoFit/>
          </a:bodyPr>
          <a:lstStyle/>
          <a:p>
            <a:pPr algn="l">
              <a:lnSpc>
                <a:spcPct val="112000"/>
              </a:lnSpc>
            </a:pPr>
            <a:r>
              <a:rPr sz="1150" b="0">
                <a:solidFill>
                  <a:srgbClr val="8A8A8A"/>
                </a:solidFill>
                <a:latin typeface="맑은 고딕"/>
              </a:rPr>
              <a:t>이미지 메타·병해충 분류·육묘·물주기</a:t>
            </a:r>
          </a:p>
        </p:txBody>
      </p:sp>
      <p:sp>
        <p:nvSpPr>
          <p:cNvPr id="25" name="TextBox 24"/>
          <p:cNvSpPr txBox="1"/>
          <p:nvPr/>
        </p:nvSpPr>
        <p:spPr>
          <a:xfrm>
            <a:off x="7086600" y="3054096"/>
            <a:ext cx="960120" cy="411480"/>
          </a:xfrm>
          <a:prstGeom prst="rect">
            <a:avLst/>
          </a:prstGeom>
          <a:noFill/>
        </p:spPr>
        <p:txBody>
          <a:bodyPr wrap="square" anchor="t" lIns="101600" rIns="101600" tIns="50800" bIns="50800">
            <a:spAutoFit/>
          </a:bodyPr>
          <a:lstStyle/>
          <a:p>
            <a:pPr algn="r">
              <a:lnSpc>
                <a:spcPct val="112000"/>
              </a:lnSpc>
            </a:pPr>
            <a:r>
              <a:rPr sz="1600" b="1">
                <a:solidFill>
                  <a:srgbClr val="3B7A57"/>
                </a:solidFill>
                <a:latin typeface="맑은 고딕"/>
              </a:rPr>
              <a:t>146건</a:t>
            </a:r>
          </a:p>
        </p:txBody>
      </p:sp>
      <p:sp>
        <p:nvSpPr>
          <p:cNvPr id="26" name="Rounded Rectangle 25"/>
          <p:cNvSpPr/>
          <p:nvPr/>
        </p:nvSpPr>
        <p:spPr>
          <a:xfrm>
            <a:off x="548640" y="4370832"/>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370832"/>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462272"/>
            <a:ext cx="2468880" cy="365760"/>
          </a:xfrm>
          <a:prstGeom prst="rect">
            <a:avLst/>
          </a:prstGeom>
          <a:noFill/>
        </p:spPr>
        <p:txBody>
          <a:bodyPr wrap="square" anchor="t" lIns="101600" rIns="101600" tIns="50800" bIns="50800">
            <a:spAutoFit/>
          </a:bodyPr>
          <a:lstStyle/>
          <a:p>
            <a:pPr algn="l">
              <a:lnSpc>
                <a:spcPct val="112000"/>
              </a:lnSpc>
            </a:pPr>
            <a:r>
              <a:rPr sz="1500" b="1">
                <a:solidFill>
                  <a:srgbClr val="1E4D2B"/>
                </a:solidFill>
                <a:latin typeface="맑은 고딕"/>
              </a:rPr>
              <a:t>PSIS 농약 정보</a:t>
            </a:r>
          </a:p>
        </p:txBody>
      </p:sp>
      <p:sp>
        <p:nvSpPr>
          <p:cNvPr id="29" name="TextBox 28"/>
          <p:cNvSpPr txBox="1"/>
          <p:nvPr/>
        </p:nvSpPr>
        <p:spPr>
          <a:xfrm>
            <a:off x="804672" y="4882896"/>
            <a:ext cx="2743200" cy="640080"/>
          </a:xfrm>
          <a:prstGeom prst="rect">
            <a:avLst/>
          </a:prstGeom>
          <a:noFill/>
        </p:spPr>
        <p:txBody>
          <a:bodyPr wrap="square" anchor="t" lIns="101600" rIns="101600" tIns="50800" bIns="50800">
            <a:spAutoFit/>
          </a:bodyPr>
          <a:lstStyle/>
          <a:p>
            <a:pPr algn="l">
              <a:lnSpc>
                <a:spcPct val="112000"/>
              </a:lnSpc>
            </a:pPr>
            <a:r>
              <a:rPr sz="1150" b="0">
                <a:solidFill>
                  <a:srgbClr val="8A8A8A"/>
                </a:solidFill>
                <a:latin typeface="맑은 고딕"/>
              </a:rPr>
              <a:t>적용 약제·안전 희석 배수</a:t>
            </a:r>
          </a:p>
        </p:txBody>
      </p:sp>
      <p:sp>
        <p:nvSpPr>
          <p:cNvPr id="30" name="TextBox 29"/>
          <p:cNvSpPr txBox="1"/>
          <p:nvPr/>
        </p:nvSpPr>
        <p:spPr>
          <a:xfrm>
            <a:off x="3154680" y="4462272"/>
            <a:ext cx="960120" cy="411480"/>
          </a:xfrm>
          <a:prstGeom prst="rect">
            <a:avLst/>
          </a:prstGeom>
          <a:noFill/>
        </p:spPr>
        <p:txBody>
          <a:bodyPr wrap="square" anchor="t" lIns="101600" rIns="101600" tIns="50800" bIns="50800">
            <a:spAutoFit/>
          </a:bodyPr>
          <a:lstStyle/>
          <a:p>
            <a:pPr algn="r">
              <a:lnSpc>
                <a:spcPct val="112000"/>
              </a:lnSpc>
            </a:pPr>
            <a:r>
              <a:rPr sz="1600" b="1">
                <a:solidFill>
                  <a:srgbClr val="3B7A57"/>
                </a:solidFill>
                <a:latin typeface="맑은 고딕"/>
              </a:rPr>
              <a:t>82건</a:t>
            </a:r>
          </a:p>
        </p:txBody>
      </p:sp>
      <p:sp>
        <p:nvSpPr>
          <p:cNvPr id="31" name="Rounded Rectangle 30"/>
          <p:cNvSpPr/>
          <p:nvPr/>
        </p:nvSpPr>
        <p:spPr>
          <a:xfrm>
            <a:off x="4480560" y="4370832"/>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80560" y="4370832"/>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36592" y="4462272"/>
            <a:ext cx="2468880" cy="365760"/>
          </a:xfrm>
          <a:prstGeom prst="rect">
            <a:avLst/>
          </a:prstGeom>
          <a:noFill/>
        </p:spPr>
        <p:txBody>
          <a:bodyPr wrap="square" anchor="t" lIns="101600" rIns="101600" tIns="50800" bIns="50800">
            <a:spAutoFit/>
          </a:bodyPr>
          <a:lstStyle/>
          <a:p>
            <a:pPr algn="l">
              <a:lnSpc>
                <a:spcPct val="112000"/>
              </a:lnSpc>
            </a:pPr>
            <a:r>
              <a:rPr sz="1500" b="1">
                <a:solidFill>
                  <a:srgbClr val="1E4D2B"/>
                </a:solidFill>
                <a:latin typeface="맑은 고딕"/>
              </a:rPr>
              <a:t>네이버 지식백과</a:t>
            </a:r>
          </a:p>
        </p:txBody>
      </p:sp>
      <p:sp>
        <p:nvSpPr>
          <p:cNvPr id="34" name="TextBox 33"/>
          <p:cNvSpPr txBox="1"/>
          <p:nvPr/>
        </p:nvSpPr>
        <p:spPr>
          <a:xfrm>
            <a:off x="4736592" y="4882896"/>
            <a:ext cx="2743200" cy="640080"/>
          </a:xfrm>
          <a:prstGeom prst="rect">
            <a:avLst/>
          </a:prstGeom>
          <a:noFill/>
        </p:spPr>
        <p:txBody>
          <a:bodyPr wrap="square" anchor="t" lIns="101600" rIns="101600" tIns="50800" bIns="50800">
            <a:spAutoFit/>
          </a:bodyPr>
          <a:lstStyle/>
          <a:p>
            <a:pPr algn="l">
              <a:lnSpc>
                <a:spcPct val="112000"/>
              </a:lnSpc>
            </a:pPr>
            <a:r>
              <a:rPr sz="1150" b="0">
                <a:solidFill>
                  <a:srgbClr val="8A8A8A"/>
                </a:solidFill>
                <a:latin typeface="맑은 고딕"/>
              </a:rPr>
              <a:t>실내식물 보조 지식 문서</a:t>
            </a:r>
          </a:p>
        </p:txBody>
      </p:sp>
      <p:sp>
        <p:nvSpPr>
          <p:cNvPr id="35" name="TextBox 34"/>
          <p:cNvSpPr txBox="1"/>
          <p:nvPr/>
        </p:nvSpPr>
        <p:spPr>
          <a:xfrm>
            <a:off x="7086600" y="4462272"/>
            <a:ext cx="960120" cy="411480"/>
          </a:xfrm>
          <a:prstGeom prst="rect">
            <a:avLst/>
          </a:prstGeom>
          <a:noFill/>
        </p:spPr>
        <p:txBody>
          <a:bodyPr wrap="square" anchor="t" lIns="101600" rIns="101600" tIns="50800" bIns="50800">
            <a:spAutoFit/>
          </a:bodyPr>
          <a:lstStyle/>
          <a:p>
            <a:pPr algn="r">
              <a:lnSpc>
                <a:spcPct val="112000"/>
              </a:lnSpc>
            </a:pPr>
            <a:r>
              <a:rPr sz="1600" b="1">
                <a:solidFill>
                  <a:srgbClr val="3B7A57"/>
                </a:solidFill>
                <a:latin typeface="맑은 고딕"/>
              </a:rPr>
              <a:t>8건</a:t>
            </a:r>
          </a:p>
        </p:txBody>
      </p:sp>
      <p:sp>
        <p:nvSpPr>
          <p:cNvPr id="36" name="Rounded Rectangle 35"/>
          <p:cNvSpPr/>
          <p:nvPr/>
        </p:nvSpPr>
        <p:spPr>
          <a:xfrm>
            <a:off x="8458200" y="1554480"/>
            <a:ext cx="3200400" cy="1920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800" b="1">
                <a:solidFill>
                  <a:srgbClr val="FFFFFF"/>
                </a:solidFill>
                <a:latin typeface="맑은 고딕"/>
              </a:rPr>
              <a:t>최종 적재 청크</a:t>
            </a:r>
          </a:p>
          <a:p>
            <a:pPr algn="ctr">
              <a:lnSpc>
                <a:spcPct val="112000"/>
              </a:lnSpc>
            </a:pPr>
            <a:r>
              <a:rPr sz="1800" b="1">
                <a:solidFill>
                  <a:srgbClr val="FFFFFF"/>
                </a:solidFill>
                <a:latin typeface="맑은 고딕"/>
              </a:rPr>
              <a:t/>
            </a:r>
          </a:p>
          <a:p>
            <a:pPr algn="ctr">
              <a:lnSpc>
                <a:spcPct val="112000"/>
              </a:lnSpc>
            </a:pPr>
            <a:r>
              <a:rPr sz="4000" b="1">
                <a:solidFill>
                  <a:srgbClr val="7CB342"/>
                </a:solidFill>
                <a:latin typeface="맑은 고딕"/>
              </a:rPr>
              <a:t>1,000건</a:t>
            </a:r>
          </a:p>
        </p:txBody>
      </p:sp>
      <p:sp>
        <p:nvSpPr>
          <p:cNvPr id="37" name="Rounded Rectangle 36"/>
          <p:cNvSpPr/>
          <p:nvPr/>
        </p:nvSpPr>
        <p:spPr>
          <a:xfrm>
            <a:off x="8458200" y="3657600"/>
            <a:ext cx="3200400" cy="233172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400" b="1">
                <a:solidFill>
                  <a:srgbClr val="1E4D2B"/>
                </a:solidFill>
                <a:latin typeface="맑은 고딕"/>
              </a:rPr>
              <a:t>적재 관리 체계</a:t>
            </a:r>
          </a:p>
          <a:p>
            <a:pPr algn="l">
              <a:lnSpc>
                <a:spcPct val="118000"/>
              </a:lnSpc>
            </a:pPr>
            <a:r>
              <a:rPr sz="1150" b="0">
                <a:solidFill>
                  <a:srgbClr val="3A3A3A"/>
                </a:solidFill>
                <a:latin typeface="맑은 고딕"/>
              </a:rPr>
              <a:t>·  rag_sources / rag_chunks 테이블 통합 적재</a:t>
            </a:r>
          </a:p>
          <a:p>
            <a:pPr algn="l">
              <a:lnSpc>
                <a:spcPct val="118000"/>
              </a:lnSpc>
            </a:pPr>
            <a:r>
              <a:rPr sz="1150" b="0">
                <a:solidFill>
                  <a:srgbClr val="3A3A3A"/>
                </a:solidFill>
                <a:latin typeface="맑은 고딕"/>
              </a:rPr>
              <a:t>·  category로 문서 성격 구분 (crop_care, pest_reference 등)</a:t>
            </a:r>
          </a:p>
          <a:p>
            <a:pPr algn="l">
              <a:lnSpc>
                <a:spcPct val="118000"/>
              </a:lnSpc>
            </a:pPr>
            <a:r>
              <a:rPr sz="1150" b="0">
                <a:solidFill>
                  <a:srgbClr val="3A3A3A"/>
                </a:solidFill>
                <a:latin typeface="맑은 고딕"/>
              </a:rPr>
              <a:t>·  usage_scope로 RAG 사용 범위 제어 (rag / reference_only / safety_reference_only)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데이터 수집 및 전처리 ② 파이프라인</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수집 → 정규화 → 청킹 → 임베딩 → pgvector 적재</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4048" y="1481328"/>
            <a:ext cx="1481328" cy="1024128"/>
          </a:xfrm>
          <a:prstGeom prst="roundRect">
            <a:avLst/>
          </a:prstGeom>
          <a:solidFill>
            <a:srgbClr val="FFFFFF"/>
          </a:solidFill>
          <a:ln w="19050">
            <a:solidFill>
              <a:srgbClr val="3B7A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수집</a:t>
            </a:r>
          </a:p>
          <a:p>
            <a:pPr algn="ctr">
              <a:lnSpc>
                <a:spcPct val="112000"/>
              </a:lnSpc>
            </a:pPr>
            <a:r>
              <a:rPr sz="950" b="0">
                <a:solidFill>
                  <a:srgbClr val="8A8A8A"/>
                </a:solidFill>
                <a:latin typeface="맑은 고딕"/>
              </a:rPr>
              <a:t>공공 API·CSV·HWPX</a:t>
            </a:r>
          </a:p>
        </p:txBody>
      </p:sp>
      <p:sp>
        <p:nvSpPr>
          <p:cNvPr id="7" name="Right Arrow 6"/>
          <p:cNvSpPr/>
          <p:nvPr/>
        </p:nvSpPr>
        <p:spPr>
          <a:xfrm>
            <a:off x="186994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029968" y="1481328"/>
            <a:ext cx="1481328" cy="1024128"/>
          </a:xfrm>
          <a:prstGeom prst="roundRect">
            <a:avLst/>
          </a:prstGeom>
          <a:solidFill>
            <a:srgbClr val="FFFFFF"/>
          </a:solidFill>
          <a:ln w="19050">
            <a:solidFill>
              <a:srgbClr val="3B7A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정규화</a:t>
            </a:r>
          </a:p>
          <a:p>
            <a:pPr algn="ctr">
              <a:lnSpc>
                <a:spcPct val="112000"/>
              </a:lnSpc>
            </a:pPr>
            <a:r>
              <a:rPr sz="950" b="0">
                <a:solidFill>
                  <a:srgbClr val="8A8A8A"/>
                </a:solidFill>
                <a:latin typeface="맑은 고딕"/>
              </a:rPr>
              <a:t>JSONL 표준 스키마</a:t>
            </a:r>
          </a:p>
        </p:txBody>
      </p:sp>
      <p:sp>
        <p:nvSpPr>
          <p:cNvPr id="9" name="Right Arrow 8"/>
          <p:cNvSpPr/>
          <p:nvPr/>
        </p:nvSpPr>
        <p:spPr>
          <a:xfrm>
            <a:off x="351586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75888" y="1481328"/>
            <a:ext cx="1481328" cy="1024128"/>
          </a:xfrm>
          <a:prstGeom prst="roundRect">
            <a:avLst/>
          </a:prstGeom>
          <a:solidFill>
            <a:srgbClr val="FFFFFF"/>
          </a:solidFill>
          <a:ln w="19050">
            <a:solidFill>
              <a:srgbClr val="3B7A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클렌징</a:t>
            </a:r>
          </a:p>
          <a:p>
            <a:pPr algn="ctr">
              <a:lnSpc>
                <a:spcPct val="112000"/>
              </a:lnSpc>
            </a:pPr>
            <a:r>
              <a:rPr sz="950" b="0">
                <a:solidFill>
                  <a:srgbClr val="8A8A8A"/>
                </a:solidFill>
                <a:latin typeface="맑은 고딕"/>
              </a:rPr>
              <a:t>HTML·공백 제거</a:t>
            </a:r>
          </a:p>
        </p:txBody>
      </p:sp>
      <p:sp>
        <p:nvSpPr>
          <p:cNvPr id="11" name="Right Arrow 10"/>
          <p:cNvSpPr/>
          <p:nvPr/>
        </p:nvSpPr>
        <p:spPr>
          <a:xfrm>
            <a:off x="516178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321808" y="1481328"/>
            <a:ext cx="1481328" cy="1024128"/>
          </a:xfrm>
          <a:prstGeom prst="roundRect">
            <a:avLst/>
          </a:prstGeom>
          <a:solidFill>
            <a:srgbClr val="FFFFFF"/>
          </a:solidFill>
          <a:ln w="19050">
            <a:solidFill>
              <a:srgbClr val="3B7A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메타 매핑</a:t>
            </a:r>
          </a:p>
          <a:p>
            <a:pPr algn="ctr">
              <a:lnSpc>
                <a:spcPct val="112000"/>
              </a:lnSpc>
            </a:pPr>
            <a:r>
              <a:rPr sz="950" b="0">
                <a:solidFill>
                  <a:srgbClr val="8A8A8A"/>
                </a:solidFill>
                <a:latin typeface="맑은 고딕"/>
              </a:rPr>
              <a:t>식물명 사전 태깅</a:t>
            </a:r>
          </a:p>
        </p:txBody>
      </p:sp>
      <p:sp>
        <p:nvSpPr>
          <p:cNvPr id="13" name="Right Arrow 12"/>
          <p:cNvSpPr/>
          <p:nvPr/>
        </p:nvSpPr>
        <p:spPr>
          <a:xfrm>
            <a:off x="680770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967728" y="1481328"/>
            <a:ext cx="1481328" cy="1024128"/>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청킹</a:t>
            </a:r>
          </a:p>
          <a:p>
            <a:pPr algn="ctr">
              <a:lnSpc>
                <a:spcPct val="112000"/>
              </a:lnSpc>
            </a:pPr>
            <a:r>
              <a:rPr sz="950" b="0">
                <a:solidFill>
                  <a:srgbClr val="7CB342"/>
                </a:solidFill>
                <a:latin typeface="맑은 고딕"/>
              </a:rPr>
              <a:t>2200자/250자 overlap</a:t>
            </a:r>
          </a:p>
        </p:txBody>
      </p:sp>
      <p:sp>
        <p:nvSpPr>
          <p:cNvPr id="15" name="Right Arrow 14"/>
          <p:cNvSpPr/>
          <p:nvPr/>
        </p:nvSpPr>
        <p:spPr>
          <a:xfrm>
            <a:off x="845362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13648" y="1481328"/>
            <a:ext cx="1481328" cy="1024128"/>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임베딩</a:t>
            </a:r>
          </a:p>
          <a:p>
            <a:pPr algn="ctr">
              <a:lnSpc>
                <a:spcPct val="112000"/>
              </a:lnSpc>
            </a:pPr>
            <a:r>
              <a:rPr sz="950" b="0">
                <a:solidFill>
                  <a:srgbClr val="7CB342"/>
                </a:solidFill>
                <a:latin typeface="맑은 고딕"/>
              </a:rPr>
              <a:t>1536차원 벡터</a:t>
            </a:r>
          </a:p>
        </p:txBody>
      </p:sp>
      <p:sp>
        <p:nvSpPr>
          <p:cNvPr id="17" name="Right Arrow 16"/>
          <p:cNvSpPr/>
          <p:nvPr/>
        </p:nvSpPr>
        <p:spPr>
          <a:xfrm>
            <a:off x="1009954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259568" y="1481328"/>
            <a:ext cx="1481328" cy="1024128"/>
          </a:xfrm>
          <a:prstGeom prst="roundRect">
            <a:avLst/>
          </a:prstGeom>
          <a:solidFill>
            <a:srgbClr val="FFFFFF"/>
          </a:solidFill>
          <a:ln w="19050">
            <a:solidFill>
              <a:srgbClr val="3B7A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적재</a:t>
            </a:r>
          </a:p>
          <a:p>
            <a:pPr algn="ctr">
              <a:lnSpc>
                <a:spcPct val="112000"/>
              </a:lnSpc>
            </a:pPr>
            <a:r>
              <a:rPr sz="950" b="0">
                <a:solidFill>
                  <a:srgbClr val="8A8A8A"/>
                </a:solidFill>
                <a:latin typeface="맑은 고딕"/>
              </a:rPr>
              <a:t>Supabase pgvector</a:t>
            </a:r>
          </a:p>
        </p:txBody>
      </p:sp>
      <p:sp>
        <p:nvSpPr>
          <p:cNvPr id="19" name="Rounded Rectangle 18"/>
          <p:cNvSpPr/>
          <p:nvPr/>
        </p:nvSpPr>
        <p:spPr>
          <a:xfrm>
            <a:off x="548640" y="2834640"/>
            <a:ext cx="5577840" cy="269748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50" b="1">
                <a:solidFill>
                  <a:srgbClr val="1E4D2B"/>
                </a:solidFill>
                <a:latin typeface="맑은 고딕"/>
              </a:rPr>
              <a:t>핵심 설계 포인트</a:t>
            </a:r>
          </a:p>
          <a:p>
            <a:pPr algn="l">
              <a:lnSpc>
                <a:spcPct val="118000"/>
              </a:lnSpc>
            </a:pPr>
            <a:r>
              <a:rPr sz="1300" b="0">
                <a:solidFill>
                  <a:srgbClr val="3A3A3A"/>
                </a:solidFill>
                <a:latin typeface="맑은 고딕"/>
              </a:rPr>
              <a:t>·  청킹 2200자: 정보 희석과 문맥 손실 사이의 최적 규격</a:t>
            </a:r>
          </a:p>
          <a:p>
            <a:pPr algn="l">
              <a:lnSpc>
                <a:spcPct val="118000"/>
              </a:lnSpc>
            </a:pPr>
            <a:r>
              <a:rPr sz="1300" b="0">
                <a:solidFill>
                  <a:srgbClr val="3A3A3A"/>
                </a:solidFill>
                <a:latin typeface="맑은 고딕"/>
              </a:rPr>
              <a:t>·  Overlap 250자: 청크 경계에서의 의미 단절 방지</a:t>
            </a:r>
          </a:p>
          <a:p>
            <a:pPr algn="l">
              <a:lnSpc>
                <a:spcPct val="118000"/>
              </a:lnSpc>
            </a:pPr>
            <a:r>
              <a:rPr sz="1300" b="0">
                <a:solidFill>
                  <a:srgbClr val="3A3A3A"/>
                </a:solidFill>
                <a:latin typeface="맑은 고딕"/>
              </a:rPr>
              <a:t>·  문장 마침표·개행 경계를 추적하는 문맥 보존형 분할</a:t>
            </a:r>
          </a:p>
          <a:p>
            <a:pPr algn="l">
              <a:lnSpc>
                <a:spcPct val="118000"/>
              </a:lnSpc>
            </a:pPr>
            <a:r>
              <a:rPr sz="1300" b="0">
                <a:solidFill>
                  <a:srgbClr val="3A3A3A"/>
                </a:solidFill>
                <a:latin typeface="맑은 고딕"/>
              </a:rPr>
              <a:t>·  임베딩: OpenAI text-embedding-3-small (1536차원)</a:t>
            </a:r>
          </a:p>
          <a:p>
            <a:pPr algn="l">
              <a:lnSpc>
                <a:spcPct val="118000"/>
              </a:lnSpc>
            </a:pPr>
            <a:r>
              <a:rPr sz="1300" b="0">
                <a:solidFill>
                  <a:srgbClr val="3A3A3A"/>
                </a:solidFill>
                <a:latin typeface="맑은 고딕"/>
              </a:rPr>
              <a:t>·  로컬 선캐싱(Decoupling) 후 DB 적재로 정합성 확보</a:t>
            </a:r>
          </a:p>
          <a:p>
            <a:pPr algn="l">
              <a:lnSpc>
                <a:spcPct val="118000"/>
              </a:lnSpc>
            </a:pPr>
            <a:r>
              <a:rPr sz="1300" b="0">
                <a:solidFill>
                  <a:srgbClr val="3A3A3A"/>
                </a:solidFill>
                <a:latin typeface="맑은 고딕"/>
              </a:rPr>
              <a:t>·  식물명 메타 태깅으로 타 식물 문서 오검색 예방</a:t>
            </a:r>
          </a:p>
        </p:txBody>
      </p:sp>
      <p:sp>
        <p:nvSpPr>
          <p:cNvPr id="20" name="Rounded Rectangle 19"/>
          <p:cNvSpPr/>
          <p:nvPr/>
        </p:nvSpPr>
        <p:spPr>
          <a:xfrm>
            <a:off x="6355080" y="2834640"/>
            <a:ext cx="5303520" cy="269748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77800"/>
          <a:lstStyle/>
          <a:p>
            <a:pPr algn="ctr">
              <a:spcAft>
                <a:spcPts val="600"/>
              </a:spcAft>
            </a:pPr>
            <a:r>
              <a:rPr sz="1600" b="1">
                <a:solidFill>
                  <a:srgbClr val="1E4D2B"/>
                </a:solidFill>
                <a:latin typeface="맑은 고딕"/>
              </a:rPr>
              <a:t>자동 정합성 검증 (QA)</a:t>
            </a:r>
          </a:p>
          <a:p>
            <a:pPr>
              <a:spcAft>
                <a:spcPts val="400"/>
              </a:spcAft>
            </a:pPr>
            <a:r>
              <a:rPr sz="1300">
                <a:solidFill>
                  <a:srgbClr val="3A3A3A"/>
                </a:solidFill>
                <a:latin typeface="맑은 고딕"/>
              </a:rPr>
              <a:t>validate_processed_data.py  →  최종 결과 </a:t>
            </a:r>
            <a:r>
              <a:rPr sz="1500" b="1">
                <a:solidFill>
                  <a:srgbClr val="3B7A57"/>
                </a:solidFill>
                <a:latin typeface="맑은 고딕"/>
              </a:rPr>
              <a:t>PASS ✔</a:t>
            </a:r>
          </a:p>
          <a:p>
            <a:pPr>
              <a:lnSpc>
                <a:spcPct val="120000"/>
              </a:lnSpc>
            </a:pPr>
            <a:r>
              <a:rPr sz="1300">
                <a:solidFill>
                  <a:srgbClr val="3A3A3A"/>
                </a:solidFill>
                <a:latin typeface="맑은 고딕"/>
              </a:rPr>
              <a:t>·  청크 chunk_id UUID 고유성 검증</a:t>
            </a:r>
          </a:p>
          <a:p>
            <a:pPr>
              <a:lnSpc>
                <a:spcPct val="120000"/>
              </a:lnSpc>
            </a:pPr>
            <a:r>
              <a:rPr sz="1300">
                <a:solidFill>
                  <a:srgbClr val="3A3A3A"/>
                </a:solidFill>
                <a:latin typeface="맑은 고딕"/>
              </a:rPr>
              <a:t>·  source_id ↔ rag_sources FK 연결 검증</a:t>
            </a:r>
          </a:p>
          <a:p>
            <a:pPr>
              <a:lnSpc>
                <a:spcPct val="120000"/>
              </a:lnSpc>
            </a:pPr>
            <a:r>
              <a:rPr sz="1300">
                <a:solidFill>
                  <a:srgbClr val="3A3A3A"/>
                </a:solidFill>
                <a:latin typeface="맑은 고딕"/>
              </a:rPr>
              <a:t>·  임베딩 벡터 1536차원 일치 확인</a:t>
            </a:r>
          </a:p>
          <a:p>
            <a:pPr>
              <a:lnSpc>
                <a:spcPct val="120000"/>
              </a:lnSpc>
            </a:pPr>
            <a:r>
              <a:rPr sz="1300">
                <a:solidFill>
                  <a:srgbClr val="3A3A3A"/>
                </a:solidFill>
                <a:latin typeface="맑은 고딕"/>
              </a:rPr>
              <a:t>·  농약 문서 pesticide_caution 안전 태그 주입 검증</a:t>
            </a:r>
          </a:p>
        </p:txBody>
      </p:sp>
      <p:sp>
        <p:nvSpPr>
          <p:cNvPr id="21" name="Rectangle 20"/>
          <p:cNvSpPr/>
          <p:nvPr/>
        </p:nvSpPr>
        <p:spPr>
          <a:xfrm>
            <a:off x="6355080" y="2834640"/>
            <a:ext cx="5303520" cy="73152"/>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RAG 기술 ① 시스템 아키텍처</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Vercel + Render + Supabase + OpenAI</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00200"/>
            <a:ext cx="1188720" cy="960120"/>
          </a:xfrm>
          <a:prstGeom prst="round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사용자</a:t>
            </a:r>
          </a:p>
        </p:txBody>
      </p:sp>
      <p:sp>
        <p:nvSpPr>
          <p:cNvPr id="7" name="Right Arrow 6"/>
          <p:cNvSpPr/>
          <p:nvPr/>
        </p:nvSpPr>
        <p:spPr>
          <a:xfrm>
            <a:off x="1655064" y="1947672"/>
            <a:ext cx="182880" cy="256032"/>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56232" y="1600200"/>
            <a:ext cx="2011680" cy="960120"/>
          </a:xfrm>
          <a:prstGeom prst="roundRect">
            <a:avLst/>
          </a:prstGeom>
          <a:solidFill>
            <a:srgbClr val="3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Vercel</a:t>
            </a:r>
          </a:p>
          <a:p>
            <a:pPr algn="ctr">
              <a:lnSpc>
                <a:spcPct val="112000"/>
              </a:lnSpc>
            </a:pPr>
            <a:r>
              <a:rPr sz="1300" b="1">
                <a:solidFill>
                  <a:srgbClr val="FFFFFF"/>
                </a:solidFill>
                <a:latin typeface="맑은 고딕"/>
              </a:rPr>
              <a:t>React·TS 프론트</a:t>
            </a:r>
          </a:p>
        </p:txBody>
      </p:sp>
      <p:sp>
        <p:nvSpPr>
          <p:cNvPr id="9" name="Right Arrow 8"/>
          <p:cNvSpPr/>
          <p:nvPr/>
        </p:nvSpPr>
        <p:spPr>
          <a:xfrm>
            <a:off x="3877056" y="1947672"/>
            <a:ext cx="182880" cy="256032"/>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078224" y="1600200"/>
            <a:ext cx="2011680" cy="960120"/>
          </a:xfrm>
          <a:prstGeom prst="roundRect">
            <a:avLst/>
          </a:prstGeom>
          <a:solidFill>
            <a:srgbClr val="3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Render</a:t>
            </a:r>
          </a:p>
          <a:p>
            <a:pPr algn="ctr">
              <a:lnSpc>
                <a:spcPct val="112000"/>
              </a:lnSpc>
            </a:pPr>
            <a:r>
              <a:rPr sz="1300" b="1">
                <a:solidFill>
                  <a:srgbClr val="FFFFFF"/>
                </a:solidFill>
                <a:latin typeface="맑은 고딕"/>
              </a:rPr>
              <a:t>FastAPI 백엔드</a:t>
            </a:r>
          </a:p>
        </p:txBody>
      </p:sp>
      <p:sp>
        <p:nvSpPr>
          <p:cNvPr id="11" name="Right Arrow 10"/>
          <p:cNvSpPr/>
          <p:nvPr/>
        </p:nvSpPr>
        <p:spPr>
          <a:xfrm>
            <a:off x="6099048" y="1947672"/>
            <a:ext cx="182880" cy="256032"/>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0216" y="1600200"/>
            <a:ext cx="3108960" cy="96012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Supabase</a:t>
            </a:r>
          </a:p>
          <a:p>
            <a:pPr algn="ctr">
              <a:lnSpc>
                <a:spcPct val="112000"/>
              </a:lnSpc>
            </a:pPr>
            <a:r>
              <a:rPr sz="1300" b="1">
                <a:solidFill>
                  <a:srgbClr val="FFFFFF"/>
                </a:solidFill>
                <a:latin typeface="맑은 고딕"/>
              </a:rPr>
              <a:t>Auth·Postgres·pgvector·Storage</a:t>
            </a:r>
          </a:p>
        </p:txBody>
      </p:sp>
      <p:sp>
        <p:nvSpPr>
          <p:cNvPr id="13" name="Right Arrow 12"/>
          <p:cNvSpPr/>
          <p:nvPr/>
        </p:nvSpPr>
        <p:spPr>
          <a:xfrm>
            <a:off x="9418320" y="1947672"/>
            <a:ext cx="182880" cy="256032"/>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19488" y="1600200"/>
            <a:ext cx="2377440" cy="960120"/>
          </a:xfrm>
          <a:prstGeom prst="round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OpenAI</a:t>
            </a:r>
          </a:p>
          <a:p>
            <a:pPr algn="ctr">
              <a:lnSpc>
                <a:spcPct val="112000"/>
              </a:lnSpc>
            </a:pPr>
            <a:r>
              <a:rPr sz="1300" b="1">
                <a:solidFill>
                  <a:srgbClr val="1E4D2B"/>
                </a:solidFill>
                <a:latin typeface="맑은 고딕"/>
              </a:rPr>
              <a:t>LLM·임베딩·Vision</a:t>
            </a:r>
          </a:p>
        </p:txBody>
      </p:sp>
      <p:sp>
        <p:nvSpPr>
          <p:cNvPr id="15" name="Rounded Rectangle 14"/>
          <p:cNvSpPr/>
          <p:nvPr/>
        </p:nvSpPr>
        <p:spPr>
          <a:xfrm>
            <a:off x="548640" y="3063240"/>
            <a:ext cx="3611880" cy="228600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00" b="1">
                <a:solidFill>
                  <a:srgbClr val="1E4D2B"/>
                </a:solidFill>
                <a:latin typeface="맑은 고딕"/>
              </a:rPr>
              <a:t>Frontend — Vercel</a:t>
            </a:r>
          </a:p>
          <a:p>
            <a:pPr algn="l">
              <a:lnSpc>
                <a:spcPct val="118000"/>
              </a:lnSpc>
            </a:pPr>
            <a:r>
              <a:rPr sz="1250" b="0">
                <a:solidFill>
                  <a:srgbClr val="3A3A3A"/>
                </a:solidFill>
                <a:latin typeface="맑은 고딕"/>
              </a:rPr>
              <a:t>·  React + TypeScript + Vite</a:t>
            </a:r>
          </a:p>
          <a:p>
            <a:pPr algn="l">
              <a:lnSpc>
                <a:spcPct val="118000"/>
              </a:lnSpc>
            </a:pPr>
            <a:r>
              <a:rPr sz="1250" b="0">
                <a:solidFill>
                  <a:srgbClr val="3A3A3A"/>
                </a:solidFill>
                <a:latin typeface="맑은 고딕"/>
              </a:rPr>
              <a:t>·  로그인·식물 등록·대시보드·AI 상담 UI</a:t>
            </a:r>
          </a:p>
          <a:p>
            <a:pPr algn="l">
              <a:lnSpc>
                <a:spcPct val="118000"/>
              </a:lnSpc>
            </a:pPr>
            <a:r>
              <a:rPr sz="1250" b="0">
                <a:solidFill>
                  <a:srgbClr val="3A3A3A"/>
                </a:solidFill>
                <a:latin typeface="맑은 고딕"/>
              </a:rPr>
              <a:t>·  해시 라우팅 + 디자인 HTML 주입 구조</a:t>
            </a:r>
          </a:p>
        </p:txBody>
      </p:sp>
      <p:sp>
        <p:nvSpPr>
          <p:cNvPr id="16" name="Rounded Rectangle 15"/>
          <p:cNvSpPr/>
          <p:nvPr/>
        </p:nvSpPr>
        <p:spPr>
          <a:xfrm>
            <a:off x="4361688" y="3063240"/>
            <a:ext cx="3611880" cy="228600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00" b="1">
                <a:solidFill>
                  <a:srgbClr val="1E4D2B"/>
                </a:solidFill>
                <a:latin typeface="맑은 고딕"/>
              </a:rPr>
              <a:t>Backend — Render</a:t>
            </a:r>
          </a:p>
          <a:p>
            <a:pPr algn="l">
              <a:lnSpc>
                <a:spcPct val="118000"/>
              </a:lnSpc>
            </a:pPr>
            <a:r>
              <a:rPr sz="1250" b="0">
                <a:solidFill>
                  <a:srgbClr val="3A3A3A"/>
                </a:solidFill>
                <a:latin typeface="맑은 고딕"/>
              </a:rPr>
              <a:t>·  FastAPI + Pydantic</a:t>
            </a:r>
          </a:p>
          <a:p>
            <a:pPr algn="l">
              <a:lnSpc>
                <a:spcPct val="118000"/>
              </a:lnSpc>
            </a:pPr>
            <a:r>
              <a:rPr sz="1250" b="0">
                <a:solidFill>
                  <a:srgbClr val="3A3A3A"/>
                </a:solidFill>
                <a:latin typeface="맑은 고딕"/>
              </a:rPr>
              <a:t>·  Supabase JWT 인증 검증</a:t>
            </a:r>
          </a:p>
          <a:p>
            <a:pPr algn="l">
              <a:lnSpc>
                <a:spcPct val="118000"/>
              </a:lnSpc>
            </a:pPr>
            <a:r>
              <a:rPr sz="1250" b="0">
                <a:solidFill>
                  <a:srgbClr val="3A3A3A"/>
                </a:solidFill>
                <a:latin typeface="맑은 고딕"/>
              </a:rPr>
              <a:t>·  RAG 파이프라인(LangGraph) 실행</a:t>
            </a:r>
          </a:p>
        </p:txBody>
      </p:sp>
      <p:sp>
        <p:nvSpPr>
          <p:cNvPr id="17" name="Rounded Rectangle 16"/>
          <p:cNvSpPr/>
          <p:nvPr/>
        </p:nvSpPr>
        <p:spPr>
          <a:xfrm>
            <a:off x="8174736" y="3063240"/>
            <a:ext cx="3611880" cy="228600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00" b="1">
                <a:solidFill>
                  <a:srgbClr val="1E4D2B"/>
                </a:solidFill>
                <a:latin typeface="맑은 고딕"/>
              </a:rPr>
              <a:t>Supabase / OpenAI</a:t>
            </a:r>
          </a:p>
          <a:p>
            <a:pPr algn="l">
              <a:lnSpc>
                <a:spcPct val="118000"/>
              </a:lnSpc>
            </a:pPr>
            <a:r>
              <a:rPr sz="1250" b="0">
                <a:solidFill>
                  <a:srgbClr val="3A3A3A"/>
                </a:solidFill>
                <a:latin typeface="맑은 고딕"/>
              </a:rPr>
              <a:t>·  Auth·Postgres·Storage 통합</a:t>
            </a:r>
          </a:p>
          <a:p>
            <a:pPr algn="l">
              <a:lnSpc>
                <a:spcPct val="118000"/>
              </a:lnSpc>
            </a:pPr>
            <a:r>
              <a:rPr sz="1250" b="0">
                <a:solidFill>
                  <a:srgbClr val="3A3A3A"/>
                </a:solidFill>
                <a:latin typeface="맑은 고딕"/>
              </a:rPr>
              <a:t>·  pgvector 벡터 유사도 검색</a:t>
            </a:r>
          </a:p>
          <a:p>
            <a:pPr algn="l">
              <a:lnSpc>
                <a:spcPct val="118000"/>
              </a:lnSpc>
            </a:pPr>
            <a:r>
              <a:rPr sz="1250" b="0">
                <a:solidFill>
                  <a:srgbClr val="3A3A3A"/>
                </a:solidFill>
                <a:latin typeface="맑은 고딕"/>
              </a:rPr>
              <a:t>·  GPT-4o-mini 채팅·Vision·임베딩</a:t>
            </a:r>
          </a:p>
        </p:txBody>
      </p:sp>
      <p:sp>
        <p:nvSpPr>
          <p:cNvPr id="18" name="TextBox 17"/>
          <p:cNvSpPr txBox="1"/>
          <p:nvPr/>
        </p:nvSpPr>
        <p:spPr>
          <a:xfrm>
            <a:off x="548640" y="5623560"/>
            <a:ext cx="11064240" cy="731520"/>
          </a:xfrm>
          <a:prstGeom prst="rect">
            <a:avLst/>
          </a:prstGeom>
          <a:noFill/>
        </p:spPr>
        <p:txBody>
          <a:bodyPr wrap="square" anchor="t" lIns="101600" rIns="101600" tIns="50800" bIns="50800">
            <a:spAutoFit/>
          </a:bodyPr>
          <a:lstStyle/>
          <a:p>
            <a:pPr algn="l">
              <a:lnSpc>
                <a:spcPct val="112000"/>
              </a:lnSpc>
            </a:pPr>
            <a:r>
              <a:rPr sz="1400" b="1">
                <a:solidFill>
                  <a:srgbClr val="3B7A57"/>
                </a:solidFill>
                <a:latin typeface="맑은 고딕"/>
              </a:rPr>
              <a:t>사용자 인증(JWT)부터 벡터 검색, 이미지 스토리지까지 Supabase로 통합 — 서비스 전 구간 실배포 완료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RAG 기술 ② LangGraph 파이프라인</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10단계 에이전틱 워크플로우 — StateGraph 시각화</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anggraph_flow.png"/>
          <p:cNvPicPr>
            <a:picLocks noChangeAspect="1"/>
          </p:cNvPicPr>
          <p:nvPr/>
        </p:nvPicPr>
        <p:blipFill>
          <a:blip r:embed="rId2"/>
          <a:stretch>
            <a:fillRect/>
          </a:stretch>
        </p:blipFill>
        <p:spPr>
          <a:xfrm>
            <a:off x="685800" y="1371600"/>
            <a:ext cx="1932753" cy="5212080"/>
          </a:xfrm>
          <a:prstGeom prst="rect">
            <a:avLst/>
          </a:prstGeom>
          <a:ln w="15875">
            <a:solidFill>
              <a:srgbClr val="E8E8E8"/>
            </a:solidFill>
          </a:ln>
        </p:spPr>
      </p:pic>
      <p:sp>
        <p:nvSpPr>
          <p:cNvPr id="7" name="Rounded Rectangle 6"/>
          <p:cNvSpPr/>
          <p:nvPr/>
        </p:nvSpPr>
        <p:spPr>
          <a:xfrm>
            <a:off x="3108960" y="1371600"/>
            <a:ext cx="8503920" cy="969264"/>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0" y="1371600"/>
            <a:ext cx="82296" cy="969264"/>
          </a:xfrm>
          <a:prstGeom prst="rect">
            <a:avLst/>
          </a:prstGeom>
          <a:solidFill>
            <a:srgbClr val="3B7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1417320"/>
            <a:ext cx="8138160" cy="320040"/>
          </a:xfrm>
          <a:prstGeom prst="rect">
            <a:avLst/>
          </a:prstGeom>
          <a:noFill/>
        </p:spPr>
        <p:txBody>
          <a:bodyPr wrap="square" anchor="t" lIns="101600" rIns="101600" tIns="50800" bIns="50800">
            <a:spAutoFit/>
          </a:bodyPr>
          <a:lstStyle/>
          <a:p>
            <a:pPr algn="l">
              <a:lnSpc>
                <a:spcPct val="112000"/>
              </a:lnSpc>
            </a:pPr>
            <a:r>
              <a:rPr sz="1350" b="1">
                <a:solidFill>
                  <a:srgbClr val="3B7A57"/>
                </a:solidFill>
                <a:latin typeface="맑은 고딕"/>
              </a:rPr>
              <a:t>입력 이해  (1~4단계)</a:t>
            </a:r>
          </a:p>
        </p:txBody>
      </p:sp>
      <p:sp>
        <p:nvSpPr>
          <p:cNvPr id="10" name="TextBox 9"/>
          <p:cNvSpPr txBox="1"/>
          <p:nvPr/>
        </p:nvSpPr>
        <p:spPr>
          <a:xfrm>
            <a:off x="3337560" y="1755648"/>
            <a:ext cx="8138160" cy="548640"/>
          </a:xfrm>
          <a:prstGeom prst="rect">
            <a:avLst/>
          </a:prstGeom>
          <a:noFill/>
        </p:spPr>
        <p:txBody>
          <a:bodyPr wrap="square" anchor="t" lIns="101600" rIns="101600" tIns="50800" bIns="50800">
            <a:spAutoFit/>
          </a:bodyPr>
          <a:lstStyle/>
          <a:p>
            <a:pPr algn="l">
              <a:lnSpc>
                <a:spcPct val="112000"/>
              </a:lnSpc>
            </a:pPr>
            <a:r>
              <a:rPr sz="1100" b="0">
                <a:solidFill>
                  <a:srgbClr val="3A3A3A"/>
                </a:solidFill>
                <a:latin typeface="맑은 고딕"/>
              </a:rPr>
              <a:t>식물·일지·사진 검증 → 대화 이력 로드 → Vision 이상 신호 추출 → 사용자 맥락 요약</a:t>
            </a:r>
          </a:p>
          <a:p>
            <a:pPr algn="l">
              <a:lnSpc>
                <a:spcPct val="112000"/>
              </a:lnSpc>
            </a:pPr>
            <a:r>
              <a:rPr sz="1100" b="0">
                <a:solidFill>
                  <a:srgbClr val="3A3A3A"/>
                </a:solidFill>
                <a:latin typeface="맑은 고딕"/>
              </a:rPr>
              <a:t>사용자의 식물 상태와 질문 의도를 구조화된 컨텍스트로 정리</a:t>
            </a:r>
          </a:p>
        </p:txBody>
      </p:sp>
      <p:sp>
        <p:nvSpPr>
          <p:cNvPr id="11" name="Rounded Rectangle 10"/>
          <p:cNvSpPr/>
          <p:nvPr/>
        </p:nvSpPr>
        <p:spPr>
          <a:xfrm>
            <a:off x="3108960" y="2450591"/>
            <a:ext cx="8503920" cy="969264"/>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08960" y="2450591"/>
            <a:ext cx="82296" cy="969264"/>
          </a:xfrm>
          <a:prstGeom prst="rect">
            <a:avLst/>
          </a:prstGeom>
          <a:solidFill>
            <a:srgbClr val="3B7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2496311"/>
            <a:ext cx="8138160" cy="320040"/>
          </a:xfrm>
          <a:prstGeom prst="rect">
            <a:avLst/>
          </a:prstGeom>
          <a:noFill/>
        </p:spPr>
        <p:txBody>
          <a:bodyPr wrap="square" anchor="t" lIns="101600" rIns="101600" tIns="50800" bIns="50800">
            <a:spAutoFit/>
          </a:bodyPr>
          <a:lstStyle/>
          <a:p>
            <a:pPr algn="l">
              <a:lnSpc>
                <a:spcPct val="112000"/>
              </a:lnSpc>
            </a:pPr>
            <a:r>
              <a:rPr sz="1350" b="1">
                <a:solidFill>
                  <a:srgbClr val="3B7A57"/>
                </a:solidFill>
                <a:latin typeface="맑은 고딕"/>
              </a:rPr>
              <a:t>검색  (5~6단계)</a:t>
            </a:r>
          </a:p>
        </p:txBody>
      </p:sp>
      <p:sp>
        <p:nvSpPr>
          <p:cNvPr id="14" name="TextBox 13"/>
          <p:cNvSpPr txBox="1"/>
          <p:nvPr/>
        </p:nvSpPr>
        <p:spPr>
          <a:xfrm>
            <a:off x="3337560" y="2834639"/>
            <a:ext cx="8138160" cy="548640"/>
          </a:xfrm>
          <a:prstGeom prst="rect">
            <a:avLst/>
          </a:prstGeom>
          <a:noFill/>
        </p:spPr>
        <p:txBody>
          <a:bodyPr wrap="square" anchor="t" lIns="101600" rIns="101600" tIns="50800" bIns="50800">
            <a:spAutoFit/>
          </a:bodyPr>
          <a:lstStyle/>
          <a:p>
            <a:pPr algn="l">
              <a:lnSpc>
                <a:spcPct val="112000"/>
              </a:lnSpc>
            </a:pPr>
            <a:r>
              <a:rPr sz="1100" b="0">
                <a:solidFill>
                  <a:srgbClr val="3A3A3A"/>
                </a:solidFill>
                <a:latin typeface="맑은 고딕"/>
              </a:rPr>
              <a:t>LLM 쿼리 확장(3개 생성) → pgvector 유사도 + 키워드 하이브리드 검색(RRF 병합)</a:t>
            </a:r>
          </a:p>
          <a:p>
            <a:pPr algn="l">
              <a:lnSpc>
                <a:spcPct val="112000"/>
              </a:lnSpc>
            </a:pPr>
            <a:r>
              <a:rPr sz="1100" b="0">
                <a:solidFill>
                  <a:srgbClr val="3A3A3A"/>
                </a:solidFill>
                <a:latin typeface="맑은 고딕"/>
              </a:rPr>
              <a:t>임계값을 완화해 후보 문서를 폭넓게 수집 (Recall 확보)</a:t>
            </a:r>
          </a:p>
        </p:txBody>
      </p:sp>
      <p:sp>
        <p:nvSpPr>
          <p:cNvPr id="15" name="Rounded Rectangle 14"/>
          <p:cNvSpPr/>
          <p:nvPr/>
        </p:nvSpPr>
        <p:spPr>
          <a:xfrm>
            <a:off x="3108960" y="3529583"/>
            <a:ext cx="8503920" cy="969264"/>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08960" y="3529583"/>
            <a:ext cx="82296" cy="969264"/>
          </a:xfrm>
          <a:prstGeom prst="rect">
            <a:avLst/>
          </a:prstGeom>
          <a:solidFill>
            <a:srgbClr val="C04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37560" y="3575303"/>
            <a:ext cx="8138160" cy="320040"/>
          </a:xfrm>
          <a:prstGeom prst="rect">
            <a:avLst/>
          </a:prstGeom>
          <a:noFill/>
        </p:spPr>
        <p:txBody>
          <a:bodyPr wrap="square" anchor="t" lIns="101600" rIns="101600" tIns="50800" bIns="50800">
            <a:spAutoFit/>
          </a:bodyPr>
          <a:lstStyle/>
          <a:p>
            <a:pPr algn="l">
              <a:lnSpc>
                <a:spcPct val="112000"/>
              </a:lnSpc>
            </a:pPr>
            <a:r>
              <a:rPr sz="1350" b="1">
                <a:solidFill>
                  <a:srgbClr val="C0453E"/>
                </a:solidFill>
                <a:latin typeface="맑은 고딕"/>
              </a:rPr>
              <a:t>검증 · 필터링  (7단계)  — 핵심</a:t>
            </a:r>
          </a:p>
        </p:txBody>
      </p:sp>
      <p:sp>
        <p:nvSpPr>
          <p:cNvPr id="18" name="TextBox 17"/>
          <p:cNvSpPr txBox="1"/>
          <p:nvPr/>
        </p:nvSpPr>
        <p:spPr>
          <a:xfrm>
            <a:off x="3337560" y="3913631"/>
            <a:ext cx="8138160" cy="548640"/>
          </a:xfrm>
          <a:prstGeom prst="rect">
            <a:avLst/>
          </a:prstGeom>
          <a:noFill/>
        </p:spPr>
        <p:txBody>
          <a:bodyPr wrap="square" anchor="t" lIns="101600" rIns="101600" tIns="50800" bIns="50800">
            <a:spAutoFit/>
          </a:bodyPr>
          <a:lstStyle/>
          <a:p>
            <a:pPr algn="l">
              <a:lnSpc>
                <a:spcPct val="112000"/>
              </a:lnSpc>
            </a:pPr>
            <a:r>
              <a:rPr sz="1100" b="0">
                <a:solidFill>
                  <a:srgbClr val="3A3A3A"/>
                </a:solidFill>
                <a:latin typeface="맑은 고딕"/>
              </a:rPr>
              <a:t>grade_or_rerank: LLM이 후보 문서를 하나씩 읽고 질문 식물종과 일치하는지 검증</a:t>
            </a:r>
          </a:p>
          <a:p>
            <a:pPr algn="l">
              <a:lnSpc>
                <a:spcPct val="112000"/>
              </a:lnSpc>
            </a:pPr>
            <a:r>
              <a:rPr sz="1100" b="0">
                <a:solidFill>
                  <a:srgbClr val="3A3A3A"/>
                </a:solidFill>
                <a:latin typeface="맑은 고딕"/>
              </a:rPr>
              <a:t>무관한 문서를 엄격히 탈락시켜 환각을 원천 차단 (Precision 확보)</a:t>
            </a:r>
          </a:p>
        </p:txBody>
      </p:sp>
      <p:sp>
        <p:nvSpPr>
          <p:cNvPr id="19" name="Rounded Rectangle 18"/>
          <p:cNvSpPr/>
          <p:nvPr/>
        </p:nvSpPr>
        <p:spPr>
          <a:xfrm>
            <a:off x="3108960" y="4608575"/>
            <a:ext cx="8503920" cy="969264"/>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08960" y="4608575"/>
            <a:ext cx="82296" cy="969264"/>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37560" y="4654295"/>
            <a:ext cx="8138160" cy="320040"/>
          </a:xfrm>
          <a:prstGeom prst="rect">
            <a:avLst/>
          </a:prstGeom>
          <a:noFill/>
        </p:spPr>
        <p:txBody>
          <a:bodyPr wrap="square" anchor="t" lIns="101600" rIns="101600" tIns="50800" bIns="50800">
            <a:spAutoFit/>
          </a:bodyPr>
          <a:lstStyle/>
          <a:p>
            <a:pPr algn="l">
              <a:lnSpc>
                <a:spcPct val="112000"/>
              </a:lnSpc>
            </a:pPr>
            <a:r>
              <a:rPr sz="1350" b="1">
                <a:solidFill>
                  <a:srgbClr val="E8A317"/>
                </a:solidFill>
                <a:latin typeface="맑은 고딕"/>
              </a:rPr>
              <a:t>생성 · 안전  (8~9단계)</a:t>
            </a:r>
          </a:p>
        </p:txBody>
      </p:sp>
      <p:sp>
        <p:nvSpPr>
          <p:cNvPr id="22" name="TextBox 21"/>
          <p:cNvSpPr txBox="1"/>
          <p:nvPr/>
        </p:nvSpPr>
        <p:spPr>
          <a:xfrm>
            <a:off x="3337560" y="4992623"/>
            <a:ext cx="8138160" cy="548640"/>
          </a:xfrm>
          <a:prstGeom prst="rect">
            <a:avLst/>
          </a:prstGeom>
          <a:noFill/>
        </p:spPr>
        <p:txBody>
          <a:bodyPr wrap="square" anchor="t" lIns="101600" rIns="101600" tIns="50800" bIns="50800">
            <a:spAutoFit/>
          </a:bodyPr>
          <a:lstStyle/>
          <a:p>
            <a:pPr algn="l">
              <a:lnSpc>
                <a:spcPct val="112000"/>
              </a:lnSpc>
            </a:pPr>
            <a:r>
              <a:rPr sz="1100" b="0">
                <a:solidFill>
                  <a:srgbClr val="3A3A3A"/>
                </a:solidFill>
                <a:latin typeface="맑은 고딕"/>
              </a:rPr>
              <a:t>전문가 모드 / 반려식물 1인칭 모드에 맞춘 답변 생성 + 출처(citations) 바인딩</a:t>
            </a:r>
          </a:p>
          <a:p>
            <a:pPr algn="l">
              <a:lnSpc>
                <a:spcPct val="112000"/>
              </a:lnSpc>
            </a:pPr>
            <a:r>
              <a:rPr sz="1100" b="0">
                <a:solidFill>
                  <a:srgbClr val="3A3A3A"/>
                </a:solidFill>
                <a:latin typeface="맑은 고딕"/>
              </a:rPr>
              <a:t>safety_review가 농약 관련 답변에 안전 고지를 강제 조립</a:t>
            </a:r>
          </a:p>
        </p:txBody>
      </p:sp>
      <p:sp>
        <p:nvSpPr>
          <p:cNvPr id="23" name="Rounded Rectangle 22"/>
          <p:cNvSpPr/>
          <p:nvPr/>
        </p:nvSpPr>
        <p:spPr>
          <a:xfrm>
            <a:off x="3108960" y="5687567"/>
            <a:ext cx="8503920" cy="969264"/>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08960" y="5687567"/>
            <a:ext cx="82296" cy="969264"/>
          </a:xfrm>
          <a:prstGeom prst="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37560" y="5733287"/>
            <a:ext cx="8138160" cy="320040"/>
          </a:xfrm>
          <a:prstGeom prst="rect">
            <a:avLst/>
          </a:prstGeom>
          <a:noFill/>
        </p:spPr>
        <p:txBody>
          <a:bodyPr wrap="square" anchor="t" lIns="101600" rIns="101600" tIns="50800" bIns="50800">
            <a:spAutoFit/>
          </a:bodyPr>
          <a:lstStyle/>
          <a:p>
            <a:pPr algn="l">
              <a:lnSpc>
                <a:spcPct val="112000"/>
              </a:lnSpc>
            </a:pPr>
            <a:r>
              <a:rPr sz="1350" b="1">
                <a:solidFill>
                  <a:srgbClr val="1E4D2B"/>
                </a:solidFill>
                <a:latin typeface="맑은 고딕"/>
              </a:rPr>
              <a:t>영속화  (10단계)</a:t>
            </a:r>
          </a:p>
        </p:txBody>
      </p:sp>
      <p:sp>
        <p:nvSpPr>
          <p:cNvPr id="26" name="TextBox 25"/>
          <p:cNvSpPr txBox="1"/>
          <p:nvPr/>
        </p:nvSpPr>
        <p:spPr>
          <a:xfrm>
            <a:off x="3337560" y="6071615"/>
            <a:ext cx="8138160" cy="548640"/>
          </a:xfrm>
          <a:prstGeom prst="rect">
            <a:avLst/>
          </a:prstGeom>
          <a:noFill/>
        </p:spPr>
        <p:txBody>
          <a:bodyPr wrap="square" anchor="t" lIns="101600" rIns="101600" tIns="50800" bIns="50800">
            <a:spAutoFit/>
          </a:bodyPr>
          <a:lstStyle/>
          <a:p>
            <a:pPr algn="l">
              <a:lnSpc>
                <a:spcPct val="112000"/>
              </a:lnSpc>
            </a:pPr>
            <a:r>
              <a:rPr sz="1100" b="0">
                <a:solidFill>
                  <a:srgbClr val="3A3A3A"/>
                </a:solidFill>
                <a:latin typeface="맑은 고딕"/>
              </a:rPr>
              <a:t>답변·출처·세션 제목을 Supabase에 저장 — 식물별 상담 이력 보존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RAG 기술 ③ 품질 개선 및 평가</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LLM-as-a-Judge 자동 평가 기반 Two-Stage Retrieval 개선</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17320"/>
            <a:ext cx="5212080" cy="178308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00" b="1">
                <a:solidFill>
                  <a:srgbClr val="C0453E"/>
                </a:solidFill>
                <a:latin typeface="맑은 고딕"/>
              </a:rPr>
              <a:t>Before — 초기 한계</a:t>
            </a:r>
          </a:p>
          <a:p>
            <a:pPr algn="l">
              <a:lnSpc>
                <a:spcPct val="118000"/>
              </a:lnSpc>
            </a:pPr>
            <a:r>
              <a:rPr sz="1250" b="0">
                <a:solidFill>
                  <a:srgbClr val="3A3A3A"/>
                </a:solidFill>
                <a:latin typeface="맑은 고딕"/>
              </a:rPr>
              <a:t>·  몬스테라 질문에 '윌마'·'무화과' 문서 검색 (오매칭)</a:t>
            </a:r>
          </a:p>
          <a:p>
            <a:pPr algn="l">
              <a:lnSpc>
                <a:spcPct val="118000"/>
              </a:lnSpc>
            </a:pPr>
            <a:r>
              <a:rPr sz="1250" b="0">
                <a:solidFill>
                  <a:srgbClr val="3A3A3A"/>
                </a:solidFill>
                <a:latin typeface="맑은 고딕"/>
              </a:rPr>
              <a:t>·  무관 문서 강제 주입 → 거짓 답변 생성 (환각)</a:t>
            </a:r>
          </a:p>
          <a:p>
            <a:pPr algn="l">
              <a:lnSpc>
                <a:spcPct val="118000"/>
              </a:lnSpc>
            </a:pPr>
            <a:r>
              <a:rPr sz="1250" b="0">
                <a:solidFill>
                  <a:srgbClr val="3A3A3A"/>
                </a:solidFill>
                <a:latin typeface="맑은 고딕"/>
              </a:rPr>
              <a:t>·  이미지 케이스 추가 후 검색 정확도 3.58점 하락</a:t>
            </a:r>
          </a:p>
        </p:txBody>
      </p:sp>
      <p:sp>
        <p:nvSpPr>
          <p:cNvPr id="7" name="Rectangle 6"/>
          <p:cNvSpPr/>
          <p:nvPr/>
        </p:nvSpPr>
        <p:spPr>
          <a:xfrm>
            <a:off x="502920" y="1417320"/>
            <a:ext cx="5212080" cy="73152"/>
          </a:xfrm>
          <a:prstGeom prst="rect">
            <a:avLst/>
          </a:prstGeom>
          <a:solidFill>
            <a:srgbClr val="C04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3383280"/>
            <a:ext cx="5212080" cy="269748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00" b="1">
                <a:solidFill>
                  <a:srgbClr val="3B7A57"/>
                </a:solidFill>
                <a:latin typeface="맑은 고딕"/>
              </a:rPr>
              <a:t>After — 핵심 개선 기법</a:t>
            </a:r>
          </a:p>
          <a:p>
            <a:pPr algn="l">
              <a:lnSpc>
                <a:spcPct val="118000"/>
              </a:lnSpc>
            </a:pPr>
            <a:r>
              <a:rPr sz="1250" b="1">
                <a:solidFill>
                  <a:srgbClr val="1E4D2B"/>
                </a:solidFill>
                <a:latin typeface="맑은 고딕"/>
              </a:rPr>
              <a:t>·  Two-Stage Retrieval: 임계값 0.32→0.25 완화로 Recall 확보 후 grade_or_rerank로 Precision 정제</a:t>
            </a:r>
          </a:p>
          <a:p>
            <a:pPr algn="l">
              <a:lnSpc>
                <a:spcPct val="118000"/>
              </a:lnSpc>
            </a:pPr>
            <a:r>
              <a:rPr sz="1250" b="0">
                <a:solidFill>
                  <a:srgbClr val="3A3A3A"/>
                </a:solidFill>
                <a:latin typeface="맑은 고딕"/>
              </a:rPr>
              <a:t>·  한국어 조사 제거 휴리스틱 ("몬스테라는"→"몬스테라")</a:t>
            </a:r>
          </a:p>
          <a:p>
            <a:pPr algn="l">
              <a:lnSpc>
                <a:spcPct val="118000"/>
              </a:lnSpc>
            </a:pPr>
            <a:r>
              <a:rPr sz="1250" b="0">
                <a:solidFill>
                  <a:srgbClr val="3A3A3A"/>
                </a:solidFill>
                <a:latin typeface="맑은 고딕"/>
              </a:rPr>
              <a:t>·  RRF 하이브리드 병합 (벡터+키워드 검색 재정렬)</a:t>
            </a:r>
          </a:p>
          <a:p>
            <a:pPr algn="l">
              <a:lnSpc>
                <a:spcPct val="118000"/>
              </a:lnSpc>
            </a:pPr>
            <a:r>
              <a:rPr sz="1250" b="0">
                <a:solidFill>
                  <a:srgbClr val="3A3A3A"/>
                </a:solidFill>
                <a:latin typeface="맑은 고딕"/>
              </a:rPr>
              <a:t>·  LLM 쿼리 확장 · 식물명 불일치 문서 강제 탈락</a:t>
            </a:r>
          </a:p>
          <a:p>
            <a:pPr algn="l">
              <a:lnSpc>
                <a:spcPct val="118000"/>
              </a:lnSpc>
            </a:pPr>
            <a:r>
              <a:rPr sz="1250" b="0">
                <a:solidFill>
                  <a:srgbClr val="3A3A3A"/>
                </a:solidFill>
                <a:latin typeface="맑은 고딕"/>
              </a:rPr>
              <a:t>·  근거 없으면 "모른다" 선언 — 강제 문서 주입 제거</a:t>
            </a:r>
          </a:p>
        </p:txBody>
      </p:sp>
      <p:sp>
        <p:nvSpPr>
          <p:cNvPr id="9" name="Rectangle 8"/>
          <p:cNvSpPr/>
          <p:nvPr/>
        </p:nvSpPr>
        <p:spPr>
          <a:xfrm>
            <a:off x="502920" y="3383280"/>
            <a:ext cx="5212080" cy="73152"/>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Chart 9"/>
          <p:cNvGraphicFramePr>
            <a:graphicFrameLocks noGrp="1"/>
          </p:cNvGraphicFramePr>
          <p:nvPr/>
        </p:nvGraphicFramePr>
        <p:xfrm>
          <a:off x="5989320" y="1417320"/>
          <a:ext cx="5760720" cy="3520440"/>
        </p:xfrm>
        <a:graphic>
          <a:graphicData uri="http://schemas.openxmlformats.org/drawingml/2006/chart">
            <c:chart xmlns:c="http://schemas.openxmlformats.org/drawingml/2006/chart" r:id="rId2"/>
          </a:graphicData>
        </a:graphic>
      </p:graphicFrame>
      <p:sp>
        <p:nvSpPr>
          <p:cNvPr id="11" name="Rounded Rectangle 10"/>
          <p:cNvSpPr/>
          <p:nvPr/>
        </p:nvSpPr>
        <p:spPr>
          <a:xfrm>
            <a:off x="5989320" y="5120640"/>
            <a:ext cx="5760720" cy="118872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450" b="1">
                <a:solidFill>
                  <a:srgbClr val="1E4D2B"/>
                </a:solidFill>
                <a:latin typeface="맑은 고딕"/>
              </a:rPr>
              <a:t>결과 해석</a:t>
            </a:r>
          </a:p>
          <a:p>
            <a:pPr algn="l">
              <a:lnSpc>
                <a:spcPct val="118000"/>
              </a:lnSpc>
            </a:pPr>
            <a:r>
              <a:rPr sz="1200" b="1">
                <a:solidFill>
                  <a:srgbClr val="1E4D2B"/>
                </a:solidFill>
                <a:latin typeface="맑은 고딕"/>
              </a:rPr>
              <a:t>·  검색 정확도 3.58 → 4.83점 대폭 개선, 사진 반영 만점(5.00)</a:t>
            </a:r>
          </a:p>
          <a:p>
            <a:pPr algn="l">
              <a:lnSpc>
                <a:spcPct val="118000"/>
              </a:lnSpc>
            </a:pPr>
            <a:r>
              <a:rPr sz="1200" b="0">
                <a:solidFill>
                  <a:srgbClr val="3A3A3A"/>
                </a:solidFill>
                <a:latin typeface="맑은 고딕"/>
              </a:rPr>
              <a:t>·  근거 없으면 답변 대신 안전한 거절을 택하는 구조로 전환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서비스 시연</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실제 배포 서비스 — 메인 대시보드</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arm시연.png"/>
          <p:cNvPicPr>
            <a:picLocks noChangeAspect="1"/>
          </p:cNvPicPr>
          <p:nvPr/>
        </p:nvPicPr>
        <p:blipFill>
          <a:blip r:embed="rId2"/>
          <a:stretch>
            <a:fillRect/>
          </a:stretch>
        </p:blipFill>
        <p:spPr>
          <a:xfrm>
            <a:off x="502920" y="1417320"/>
            <a:ext cx="7863840" cy="4471107"/>
          </a:xfrm>
          <a:prstGeom prst="rect">
            <a:avLst/>
          </a:prstGeom>
          <a:ln w="15875">
            <a:solidFill>
              <a:srgbClr val="E8E8E8"/>
            </a:solidFill>
          </a:ln>
        </p:spPr>
      </p:pic>
      <p:sp>
        <p:nvSpPr>
          <p:cNvPr id="7" name="TextBox 6"/>
          <p:cNvSpPr txBox="1"/>
          <p:nvPr/>
        </p:nvSpPr>
        <p:spPr>
          <a:xfrm>
            <a:off x="521207" y="5943600"/>
            <a:ext cx="7863840" cy="365760"/>
          </a:xfrm>
          <a:prstGeom prst="rect">
            <a:avLst/>
          </a:prstGeom>
          <a:noFill/>
        </p:spPr>
        <p:txBody>
          <a:bodyPr wrap="square" anchor="t" lIns="101600" rIns="101600" tIns="50800" bIns="50800">
            <a:spAutoFit/>
          </a:bodyPr>
          <a:lstStyle/>
          <a:p>
            <a:pPr algn="l">
              <a:lnSpc>
                <a:spcPct val="112000"/>
              </a:lnSpc>
            </a:pPr>
            <a:r>
              <a:rPr sz="1150" b="0">
                <a:solidFill>
                  <a:srgbClr val="8A8A8A"/>
                </a:solidFill>
                <a:latin typeface="맑은 고딕"/>
              </a:rPr>
              <a:t>▲ Farm하니? 메인 대시보드 — 내 식물 카드 · 건강 개요 · 빠른 AI 진단</a:t>
            </a:r>
          </a:p>
        </p:txBody>
      </p:sp>
      <p:sp>
        <p:nvSpPr>
          <p:cNvPr id="8" name="Oval 7"/>
          <p:cNvSpPr/>
          <p:nvPr/>
        </p:nvSpPr>
        <p:spPr>
          <a:xfrm>
            <a:off x="8641080" y="1472184"/>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1</a:t>
            </a:r>
          </a:p>
        </p:txBody>
      </p:sp>
      <p:sp>
        <p:nvSpPr>
          <p:cNvPr id="9" name="TextBox 8"/>
          <p:cNvSpPr txBox="1"/>
          <p:nvPr/>
        </p:nvSpPr>
        <p:spPr>
          <a:xfrm>
            <a:off x="9144000" y="1435608"/>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로그인 / 회원가입</a:t>
            </a:r>
          </a:p>
        </p:txBody>
      </p:sp>
      <p:sp>
        <p:nvSpPr>
          <p:cNvPr id="10" name="Oval 9"/>
          <p:cNvSpPr/>
          <p:nvPr/>
        </p:nvSpPr>
        <p:spPr>
          <a:xfrm>
            <a:off x="8641080" y="2039112"/>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2</a:t>
            </a:r>
          </a:p>
        </p:txBody>
      </p:sp>
      <p:sp>
        <p:nvSpPr>
          <p:cNvPr id="11" name="TextBox 10"/>
          <p:cNvSpPr txBox="1"/>
          <p:nvPr/>
        </p:nvSpPr>
        <p:spPr>
          <a:xfrm>
            <a:off x="9144000" y="2002536"/>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내 식물 등록 (품종 자동완성 + 사진)</a:t>
            </a:r>
          </a:p>
        </p:txBody>
      </p:sp>
      <p:sp>
        <p:nvSpPr>
          <p:cNvPr id="12" name="Oval 11"/>
          <p:cNvSpPr/>
          <p:nvPr/>
        </p:nvSpPr>
        <p:spPr>
          <a:xfrm>
            <a:off x="8641080" y="2606040"/>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3</a:t>
            </a:r>
          </a:p>
        </p:txBody>
      </p:sp>
      <p:sp>
        <p:nvSpPr>
          <p:cNvPr id="13" name="TextBox 12"/>
          <p:cNvSpPr txBox="1"/>
          <p:nvPr/>
        </p:nvSpPr>
        <p:spPr>
          <a:xfrm>
            <a:off x="9144000" y="2569464"/>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대시보드에서 상태 확인</a:t>
            </a:r>
          </a:p>
        </p:txBody>
      </p:sp>
      <p:sp>
        <p:nvSpPr>
          <p:cNvPr id="14" name="Oval 13"/>
          <p:cNvSpPr/>
          <p:nvPr/>
        </p:nvSpPr>
        <p:spPr>
          <a:xfrm>
            <a:off x="8641080" y="3172968"/>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4</a:t>
            </a:r>
          </a:p>
        </p:txBody>
      </p:sp>
      <p:sp>
        <p:nvSpPr>
          <p:cNvPr id="15" name="TextBox 14"/>
          <p:cNvSpPr txBox="1"/>
          <p:nvPr/>
        </p:nvSpPr>
        <p:spPr>
          <a:xfrm>
            <a:off x="9144000" y="3136392"/>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AI 상담 — 전문가 / 내 식물과 대화</a:t>
            </a:r>
          </a:p>
        </p:txBody>
      </p:sp>
      <p:sp>
        <p:nvSpPr>
          <p:cNvPr id="16" name="Oval 15"/>
          <p:cNvSpPr/>
          <p:nvPr/>
        </p:nvSpPr>
        <p:spPr>
          <a:xfrm>
            <a:off x="8641080" y="3739896"/>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5</a:t>
            </a:r>
          </a:p>
        </p:txBody>
      </p:sp>
      <p:sp>
        <p:nvSpPr>
          <p:cNvPr id="17" name="TextBox 16"/>
          <p:cNvSpPr txBox="1"/>
          <p:nvPr/>
        </p:nvSpPr>
        <p:spPr>
          <a:xfrm>
            <a:off x="9144000" y="3703320"/>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질문 + 사진 첨부 (Vision 분석)</a:t>
            </a:r>
          </a:p>
        </p:txBody>
      </p:sp>
      <p:sp>
        <p:nvSpPr>
          <p:cNvPr id="18" name="Oval 17"/>
          <p:cNvSpPr/>
          <p:nvPr/>
        </p:nvSpPr>
        <p:spPr>
          <a:xfrm>
            <a:off x="8641080" y="4306824"/>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6</a:t>
            </a:r>
          </a:p>
        </p:txBody>
      </p:sp>
      <p:sp>
        <p:nvSpPr>
          <p:cNvPr id="19" name="TextBox 18"/>
          <p:cNvSpPr txBox="1"/>
          <p:nvPr/>
        </p:nvSpPr>
        <p:spPr>
          <a:xfrm>
            <a:off x="9144000" y="4270248"/>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RAG 답변 + 공식 문서 출처 확인</a:t>
            </a:r>
          </a:p>
        </p:txBody>
      </p:sp>
      <p:sp>
        <p:nvSpPr>
          <p:cNvPr id="20" name="Rounded Rectangle 19"/>
          <p:cNvSpPr/>
          <p:nvPr/>
        </p:nvSpPr>
        <p:spPr>
          <a:xfrm>
            <a:off x="8641080" y="5029200"/>
            <a:ext cx="3063240" cy="123444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250" b="1">
                <a:solidFill>
                  <a:srgbClr val="1E4D2B"/>
                </a:solidFill>
                <a:latin typeface="맑은 고딕"/>
              </a:rPr>
              <a:t>사용자별 식물 관리</a:t>
            </a:r>
          </a:p>
          <a:p>
            <a:pPr algn="ctr">
              <a:lnSpc>
                <a:spcPct val="112000"/>
              </a:lnSpc>
            </a:pPr>
            <a:r>
              <a:rPr sz="1250" b="1">
                <a:solidFill>
                  <a:srgbClr val="1E4D2B"/>
                </a:solidFill>
                <a:latin typeface="맑은 고딕"/>
              </a:rPr>
              <a:t>식물별 상담 기록 보존</a:t>
            </a:r>
          </a:p>
          <a:p>
            <a:pPr algn="ctr">
              <a:lnSpc>
                <a:spcPct val="112000"/>
              </a:lnSpc>
            </a:pPr>
            <a:r>
              <a:rPr sz="1250" b="1">
                <a:solidFill>
                  <a:srgbClr val="1E4D2B"/>
                </a:solidFill>
                <a:latin typeface="맑은 고딕"/>
              </a:rPr>
              <a:t>공식 문서 출처 제공</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92640" y="-1097280"/>
            <a:ext cx="3840480" cy="3840480"/>
          </a:xfrm>
          <a:prstGeom prst="ellipse">
            <a:avLst/>
          </a:prstGeom>
          <a:solidFill>
            <a:srgbClr val="EE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029200"/>
            <a:ext cx="2743200" cy="2743200"/>
          </a:xfrm>
          <a:prstGeom prst="ellipse">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280160"/>
            <a:ext cx="10332720" cy="1188720"/>
          </a:xfrm>
          <a:prstGeom prst="rect">
            <a:avLst/>
          </a:prstGeom>
          <a:noFill/>
        </p:spPr>
        <p:txBody>
          <a:bodyPr wrap="square" anchor="t" lIns="101600" rIns="101600" tIns="50800" bIns="50800">
            <a:spAutoFit/>
          </a:bodyPr>
          <a:lstStyle/>
          <a:p>
            <a:pPr algn="l">
              <a:lnSpc>
                <a:spcPct val="112000"/>
              </a:lnSpc>
            </a:pPr>
            <a:r>
              <a:rPr sz="6000" b="1">
                <a:solidFill>
                  <a:srgbClr val="1E4D2B"/>
                </a:solidFill>
                <a:latin typeface="맑은 고딕"/>
              </a:rPr>
              <a:t>Q &amp; A</a:t>
            </a:r>
          </a:p>
        </p:txBody>
      </p:sp>
      <p:sp>
        <p:nvSpPr>
          <p:cNvPr id="6" name="Rectangle 5"/>
          <p:cNvSpPr/>
          <p:nvPr/>
        </p:nvSpPr>
        <p:spPr>
          <a:xfrm>
            <a:off x="1051560" y="2377440"/>
            <a:ext cx="1645920" cy="82296"/>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51760"/>
            <a:ext cx="10058400" cy="822960"/>
          </a:xfrm>
          <a:prstGeom prst="rect">
            <a:avLst/>
          </a:prstGeom>
          <a:noFill/>
        </p:spPr>
        <p:txBody>
          <a:bodyPr wrap="square" anchor="t" lIns="101600" rIns="101600" tIns="50800" bIns="50800">
            <a:spAutoFit/>
          </a:bodyPr>
          <a:lstStyle/>
          <a:p>
            <a:pPr algn="l">
              <a:lnSpc>
                <a:spcPct val="112000"/>
              </a:lnSpc>
            </a:pPr>
            <a:r>
              <a:rPr sz="1800" b="0">
                <a:solidFill>
                  <a:srgbClr val="3A3A3A"/>
                </a:solidFill>
                <a:latin typeface="맑은 고딕"/>
              </a:rPr>
              <a:t>공식 문서 기반 RAG와 사용자 식물 기록을 연결한</a:t>
            </a:r>
          </a:p>
          <a:p>
            <a:pPr algn="l">
              <a:lnSpc>
                <a:spcPct val="112000"/>
              </a:lnSpc>
            </a:pPr>
            <a:r>
              <a:rPr sz="1800" b="0">
                <a:solidFill>
                  <a:srgbClr val="3A3A3A"/>
                </a:solidFill>
                <a:latin typeface="맑은 고딕"/>
              </a:rPr>
              <a:t>개인화 식물 관리 AI, Farm하니? 였습니다. 감사합니다 🌱</a:t>
            </a:r>
          </a:p>
        </p:txBody>
      </p:sp>
      <p:sp>
        <p:nvSpPr>
          <p:cNvPr id="8" name="Rounded Rectangle 7"/>
          <p:cNvSpPr/>
          <p:nvPr/>
        </p:nvSpPr>
        <p:spPr>
          <a:xfrm>
            <a:off x="960120" y="4114800"/>
            <a:ext cx="10332720" cy="192024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650" b="1">
                <a:solidFill>
                  <a:srgbClr val="1E4D2B"/>
                </a:solidFill>
                <a:latin typeface="맑은 고딕"/>
              </a:rPr>
              <a:t>향후 고도화 방향</a:t>
            </a:r>
          </a:p>
          <a:p>
            <a:pPr algn="l">
              <a:lnSpc>
                <a:spcPct val="118000"/>
              </a:lnSpc>
            </a:pPr>
            <a:r>
              <a:rPr sz="1400" b="0">
                <a:solidFill>
                  <a:srgbClr val="3A3A3A"/>
                </a:solidFill>
                <a:latin typeface="맑은 고딕"/>
              </a:rPr>
              <a:t>·  식물·작물 데이터 커버리지 지속 확장</a:t>
            </a:r>
          </a:p>
          <a:p>
            <a:pPr algn="l">
              <a:lnSpc>
                <a:spcPct val="118000"/>
              </a:lnSpc>
            </a:pPr>
            <a:r>
              <a:rPr sz="1400" b="0">
                <a:solidFill>
                  <a:srgbClr val="3A3A3A"/>
                </a:solidFill>
                <a:latin typeface="맑은 고딕"/>
              </a:rPr>
              <a:t>·  물주기 자동 리마인드 및 모바일 알림</a:t>
            </a:r>
          </a:p>
          <a:p>
            <a:pPr algn="l">
              <a:lnSpc>
                <a:spcPct val="118000"/>
              </a:lnSpc>
            </a:pPr>
            <a:r>
              <a:rPr sz="1400" b="0">
                <a:solidFill>
                  <a:srgbClr val="3A3A3A"/>
                </a:solidFill>
                <a:latin typeface="맑은 고딕"/>
              </a:rPr>
              <a:t>·  이미지 진단 정확도 고도화</a:t>
            </a:r>
          </a:p>
          <a:p>
            <a:pPr algn="l">
              <a:lnSpc>
                <a:spcPct val="118000"/>
              </a:lnSpc>
            </a:pPr>
            <a:r>
              <a:rPr sz="1400" b="0">
                <a:solidFill>
                  <a:srgbClr val="3A3A3A"/>
                </a:solidFill>
                <a:latin typeface="맑은 고딕"/>
              </a:rPr>
              <a:t>·  무정보 상황의 안전한 거절 패턴 및 RAG 평가 자동화 지속 개선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